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8_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E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13_0.xml" ContentType="application/vnd.ms-powerpoint.comments+xml"/>
  <Override PartName="/ppt/notesSlides/notesSlide22.xml" ContentType="application/vnd.openxmlformats-officedocument.presentationml.notesSlide+xml"/>
  <Override PartName="/ppt/comments/modernComment_114_0.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75"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5" r:id="rId22"/>
    <p:sldId id="276" r:id="rId23"/>
    <p:sldId id="278" r:id="rId24"/>
    <p:sldId id="283" r:id="rId25"/>
    <p:sldId id="279" r:id="rId26"/>
    <p:sldId id="280" r:id="rId27"/>
    <p:sldId id="281" r:id="rId28"/>
    <p:sldId id="282" r:id="rId29"/>
  </p:sldIdLst>
  <p:sldSz cx="9144000" cy="5143500" type="screen16x9"/>
  <p:notesSz cx="6858000" cy="9144000"/>
  <p:embeddedFontLst>
    <p:embeddedFont>
      <p:font typeface="Gill Sans MT" panose="020B0502020104020203" pitchFamily="34" charset="77"/>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Wingdings 2" pitchFamily="2" charset="2"/>
      <p:regular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HW3dz63URA1wdtD9dkWDnxiip4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4711F6-B613-E61B-F8CD-350DC179DE0D}" name="Zixuan Zhou" initials="ZZ" userId="3acc5910652dde5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5D76A5-846C-468A-A3A5-3BBC82F66BEA}">
  <a:tblStyle styleId="{145D76A5-846C-468A-A3A5-3BBC82F66BE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7"/>
    <p:restoredTop sz="75548"/>
  </p:normalViewPr>
  <p:slideViewPr>
    <p:cSldViewPr snapToGrid="0">
      <p:cViewPr>
        <p:scale>
          <a:sx n="121" d="100"/>
          <a:sy n="121" d="100"/>
        </p:scale>
        <p:origin x="368" y="2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customschemas.google.com/relationships/presentationmetadata" Target="metadata"/><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presProps" Target="presProps.xml"/></Relationships>
</file>

<file path=ppt/comments/modernComment_10E_0.xml><?xml version="1.0" encoding="utf-8"?>
<p188:cmLst xmlns:a="http://schemas.openxmlformats.org/drawingml/2006/main" xmlns:r="http://schemas.openxmlformats.org/officeDocument/2006/relationships" xmlns:p188="http://schemas.microsoft.com/office/powerpoint/2018/8/main">
  <p188:cm id="{FD10D550-7F61-4D49-81A8-7AE06C7F2C7A}" authorId="{B94711F6-B613-E61B-F8CD-350DC179DE0D}" created="2025-05-19T05:35:39.236">
    <ac:txMkLst xmlns:ac="http://schemas.microsoft.com/office/drawing/2013/main/command">
      <pc:docMk xmlns:pc="http://schemas.microsoft.com/office/powerpoint/2013/main/command"/>
      <pc:sldMk xmlns:pc="http://schemas.microsoft.com/office/powerpoint/2013/main/command" cId="0" sldId="270"/>
      <ac:spMk id="154" creationId="{00000000-0000-0000-0000-000000000000}"/>
      <ac:txMk cp="121" len="43">
        <ac:context len="922" hash="696925785"/>
      </ac:txMk>
    </ac:txMkLst>
    <p188:pos x="4955244" y="582130"/>
    <p188:txBody>
      <a:bodyPr/>
      <a:lstStyle/>
      <a:p>
        <a:r>
          <a:rPr lang="en-US"/>
          <a:t>I think we should break down the quality index into 1) basics: wait time and consultation time; 2) other variables</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7931CAA1-D193-C44C-BF96-D4B6E4DB3359}" authorId="{B94711F6-B613-E61B-F8CD-350DC179DE0D}" created="2025-05-19T05:40:51.537">
    <ac:txMkLst xmlns:ac="http://schemas.microsoft.com/office/drawing/2013/main/command">
      <pc:docMk xmlns:pc="http://schemas.microsoft.com/office/powerpoint/2013/main/command"/>
      <pc:sldMk xmlns:pc="http://schemas.microsoft.com/office/powerpoint/2013/main/command" cId="0" sldId="264"/>
      <ac:spMk id="109" creationId="{00000000-0000-0000-0000-000000000000}"/>
      <ac:txMk cp="0" len="47">
        <ac:context len="48" hash="3539312640"/>
      </ac:txMk>
    </ac:txMkLst>
    <p188:pos x="6887886" y="458865"/>
    <p188:txBody>
      <a:bodyPr/>
      <a:lstStyle/>
      <a:p>
        <a:r>
          <a:rPr lang="en-US"/>
          <a:t>I think we should move this slide to the later part of our presentation</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732CB9C7-C578-3649-BE20-4C2995CF44CA}" authorId="{B94711F6-B613-E61B-F8CD-350DC179DE0D}" created="2025-05-19T05:37:48.837">
    <ac:txMkLst xmlns:ac="http://schemas.microsoft.com/office/drawing/2013/main/command">
      <pc:docMk xmlns:pc="http://schemas.microsoft.com/office/powerpoint/2013/main/command"/>
      <pc:sldMk xmlns:pc="http://schemas.microsoft.com/office/powerpoint/2013/main/command" cId="0" sldId="275"/>
      <ac:spMk id="195" creationId="{00000000-0000-0000-0000-000000000000}"/>
      <ac:txMk cp="0" len="152">
        <ac:context len="153" hash="4214148533"/>
      </ac:txMk>
    </ac:txMkLst>
    <p188:pos x="5418948" y="369519"/>
    <p188:txBody>
      <a:bodyPr/>
      <a:lstStyle/>
      <a:p>
        <a:r>
          <a:rPr lang="en-US"/>
          <a:t>We could also run regression to see whether our quality index is associated with low return rates</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ED5AF2F8-2AFE-F74E-9E7F-3EA8743DE4B5}" authorId="{B94711F6-B613-E61B-F8CD-350DC179DE0D}" created="2025-05-19T05:45:30.925">
    <ac:txMkLst xmlns:ac="http://schemas.microsoft.com/office/drawing/2013/main/command">
      <pc:docMk xmlns:pc="http://schemas.microsoft.com/office/powerpoint/2013/main/command"/>
      <pc:sldMk xmlns:pc="http://schemas.microsoft.com/office/powerpoint/2013/main/command" cId="0" sldId="276"/>
      <ac:spMk id="206" creationId="{00000000-0000-0000-0000-000000000000}"/>
      <ac:txMk cp="2" len="80">
        <ac:context len="83" hash="2594967108"/>
      </ac:txMk>
    </ac:txMkLst>
    <p188:pos x="5830535" y="421873"/>
    <p188:txBody>
      <a:bodyPr/>
      <a:lstStyle/>
      <a:p>
        <a:r>
          <a:rPr lang="en-US"/>
          <a:t>This alone is not a moral hazard problem. It could be that doctors are not knowledgeable enough so they need more tests than there should be.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dirty="0"/>
              <a:t>This is the database used</a:t>
            </a:r>
          </a:p>
          <a:p>
            <a:pPr marL="0" lvl="0" indent="0" algn="l" rtl="0">
              <a:lnSpc>
                <a:spcPct val="100000"/>
              </a:lnSpc>
              <a:spcBef>
                <a:spcPts val="0"/>
              </a:spcBef>
              <a:spcAft>
                <a:spcPts val="0"/>
              </a:spcAft>
              <a:buSzPts val="1100"/>
              <a:buNone/>
            </a:pPr>
            <a:endParaRPr lang="es-MX" dirty="0"/>
          </a:p>
          <a:p>
            <a:pPr marL="0" lvl="0" indent="0" algn="l" rtl="0">
              <a:lnSpc>
                <a:spcPct val="100000"/>
              </a:lnSpc>
              <a:spcBef>
                <a:spcPts val="0"/>
              </a:spcBef>
              <a:spcAft>
                <a:spcPts val="0"/>
              </a:spcAft>
              <a:buSzPts val="1100"/>
              <a:buNone/>
            </a:pPr>
            <a:r>
              <a:rPr lang="es-MX" dirty="0"/>
              <a:t>We may need to provide more info on this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solidFill>
                  <a:schemeClr val="dk1"/>
                </a:solidFill>
              </a:rPr>
              <a:t>Since this is a class of development, we are looking into low income settings. This is the justification to use Mexico.</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s-MX"/>
              <a:t>Since the sample is divided fairly similar across states, we are not considering the highest 5 income countries.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It is important to denote that these are usually mutually exclusive. People in general can get attention in public clinics from the government but for coverage it is needed that the patient goes to its affiliated institute. In case of no affiliation, people go for the providers from the Ministry of Health.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In Mexico, most people is affiliated –and usually look for care- in public institutions. Sadly, we don’t have more granular data on other institutions’ public resources per capita. However, we do have some explanations for certain institutions. The higher amount per capita goes to Pemex, which is interesting Because is one of the smallest institutions.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Additionally, this is the economic strata of people going to each provider, were 1 is the lowest quartile and 4 is the highest.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s-MX"/>
              <a:t>To understand what kind of market failure we might face, we also need the Payment structure of each of them. Since doctors in public services are paid by fixed salaries, they can be incentivized to put less effort into treatment.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As it can be observed, at first sight all of them perfom poorly in quality (in general terms).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s-MX"/>
              <a:t>However, when asked if they would return to that clinic, some people answered “No”.  Here we can denote Pemex, for example, one of the institutions with highest resources per capita. Moreover, even for the people that said “Yes” There is a good percentage that says they “Don’t have other option”, and among the “No”, a good percentage said they “Did not improve” after treatment.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This makes us think of these possible market failures. The first one has been studied broady before and from the data, it is not clear that quality is strictly linear with the resources provided (this could have important confouders such as the amount of taxes paid). Corruption, which is another important problem in analyzing incentives, is difficult to study Because we don’t have clear data on it. Finally, with the data we have, we will study moral Hazard behavior in doctors. This means that doctors can modify their behavior depending on their own incentives, causing problems on the health quality of patients.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Hence, the main question is the following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s-MX"/>
              <a:t>To explain it clearly. This is the moral Hazard explanation.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MX"/>
              <a:t>To prove this is the market failure, we have some hypotheses.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s-MX"/>
              <a:t>Before starting with the tests, it is important to denote that all services have similar common conditions and that they do not vary widely across providers.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s-MX"/>
              <a:t>For the first hypothesis we first test the probability of get a test prescribed by the Healthcare provider. We are comparing all of them with the Private insurance since they do not have fices income (so it can work as a counterfactual). We include variables such as conditions, age, and sex. Most conditions were significant into getting a higher change of test prescription. Additionally, some institutions proved </a:t>
            </a:r>
            <a:r>
              <a:rPr lang="es-MX">
                <a:highlight>
                  <a:srgbClr val="FFFF00"/>
                </a:highlight>
              </a:rPr>
              <a:t>to be statistically significant in having more likelihood to request a test.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s-MX"/>
              <a:t>In the case of number of medications prescribed, most conditions didn’t proved to be significant. However, some of the institutions gave statistically less medication in comparison to the private insurance (Seguro Popular, ISSSTE, Defensa, IMSS Prospera).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s-MX"/>
              <a:t>For the second Hypothesis we see that the conditions is not statistically related to the effort doctors provide, but they are statistically significant in a good amount of Institutions. It is important to denote that in the appendix you can find the variables that we used for the effort index.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Hypothesis 4 compares wait times and consult minutes across different public healthcare systems to private ones. We can see that </a:t>
            </a:r>
            <a:r>
              <a:rPr lang="es-MX" b="1" dirty="0"/>
              <a:t>public healthcare systems has significantly longer wait times</a:t>
            </a:r>
            <a:r>
              <a:rPr lang="es-MX" dirty="0"/>
              <a:t>, and shorter consultation minutes with doctors (though the difference is not significant for consultation time) &gt;&gt; another signal that public healthcare is not efficient. </a:t>
            </a:r>
          </a:p>
          <a:p>
            <a:pPr marL="0" lvl="0" indent="0" algn="l" rtl="0">
              <a:spcBef>
                <a:spcPts val="0"/>
              </a:spcBef>
              <a:spcAft>
                <a:spcPts val="0"/>
              </a:spcAft>
              <a:buNone/>
            </a:pPr>
            <a:endParaRPr lang="es-MX" dirty="0"/>
          </a:p>
          <a:p>
            <a:pPr marL="0" lvl="0" indent="0" algn="l" rtl="0">
              <a:spcBef>
                <a:spcPts val="0"/>
              </a:spcBef>
              <a:spcAft>
                <a:spcPts val="0"/>
              </a:spcAft>
              <a:buNone/>
            </a:pPr>
            <a:r>
              <a:rPr lang="es-MX" dirty="0"/>
              <a:t>I think this should be put forward. </a:t>
            </a:r>
            <a:endParaRPr dirty="0"/>
          </a:p>
        </p:txBody>
      </p:sp>
      <p:sp>
        <p:nvSpPr>
          <p:cNvPr id="214" name="Google Shape;21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Hypothesis 3 asks what is the effect of providing more medical services (measured by number of medications and tests) on patients’ willingness to return to the same hospital, should they become sick next time. The effect sizes are generally very small and not significant. Therefore, providing more tests might not necessarily improve patients’ willingness to return - this suggests that </a:t>
            </a:r>
            <a:r>
              <a:rPr lang="es-MX" b="1" dirty="0"/>
              <a:t>even in cases where more medical services are provided, the quality of care does not necessarily improve.</a:t>
            </a:r>
          </a:p>
          <a:p>
            <a:pPr marL="0" lvl="0" indent="0" algn="l" rtl="0">
              <a:spcBef>
                <a:spcPts val="0"/>
              </a:spcBef>
              <a:spcAft>
                <a:spcPts val="0"/>
              </a:spcAft>
              <a:buNone/>
            </a:pPr>
            <a:endParaRPr lang="es-MX" b="1" i="1" dirty="0">
              <a:highlight>
                <a:srgbClr val="C9DAF8"/>
              </a:highlight>
            </a:endParaRPr>
          </a:p>
          <a:p>
            <a:pPr marL="0" lvl="0" indent="0" algn="l" rtl="0">
              <a:spcBef>
                <a:spcPts val="0"/>
              </a:spcBef>
              <a:spcAft>
                <a:spcPts val="0"/>
              </a:spcAft>
              <a:buNone/>
            </a:pPr>
            <a:r>
              <a:rPr lang="es-MX" b="1" i="1" dirty="0">
                <a:highlight>
                  <a:srgbClr val="C9DAF8"/>
                </a:highlight>
              </a:rPr>
              <a:t>*We ask these questions because in a well-functioning system, more tests usually mean the doctors try hard to find out what’s wrong with the patients and generally indicate more comprehensive evaluation, which will likely help patients determine their illnesses. This should mean better service - patients are therefore more likely to return to the same hospital. </a:t>
            </a:r>
            <a:endParaRPr b="1" i="1" dirty="0">
              <a:highlight>
                <a:srgbClr val="C9DAF8"/>
              </a:highlight>
            </a:endParaRPr>
          </a:p>
          <a:p>
            <a:pPr marL="0" lvl="0" indent="0" algn="l" rtl="0">
              <a:spcBef>
                <a:spcPts val="0"/>
              </a:spcBef>
              <a:spcAft>
                <a:spcPts val="0"/>
              </a:spcAft>
              <a:buNone/>
            </a:pPr>
            <a:endParaRPr b="1" dirty="0"/>
          </a:p>
          <a:p>
            <a:pPr marL="0" lvl="0" indent="0" algn="l" rtl="0">
              <a:spcBef>
                <a:spcPts val="0"/>
              </a:spcBef>
              <a:spcAft>
                <a:spcPts val="0"/>
              </a:spcAft>
              <a:buNone/>
            </a:pPr>
            <a:endParaRPr b="1" dirty="0"/>
          </a:p>
        </p:txBody>
      </p:sp>
      <p:sp>
        <p:nvSpPr>
          <p:cNvPr id="192" name="Google Shape;19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a1eb37f4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Although the mexican public healthcare system is generally free, certain “out-of-the-pocket” payment still exists. This slide shows that “overtreatment” through providing more medication and tests do incur extra costs for the patients, even in public healthcare systems. Combined with the last slide, we know that </a:t>
            </a:r>
            <a:r>
              <a:rPr lang="es-MX" b="1" dirty="0"/>
              <a:t>more care does not mean better care, but they inevitably bring financial burdens for the patient. </a:t>
            </a:r>
            <a:r>
              <a:rPr lang="es-MX" dirty="0"/>
              <a:t>From the patient end, this means higher input with little return - which supports our inefficiency hypothesis. (Patients spent more money but is not better-off)</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s-MX" dirty="0"/>
              <a:t>Note that this is true for private healthcare as well. </a:t>
            </a:r>
            <a:endParaRPr dirty="0"/>
          </a:p>
          <a:p>
            <a:pPr marL="0" lvl="0" indent="0" algn="l" rtl="0">
              <a:spcBef>
                <a:spcPts val="0"/>
              </a:spcBef>
              <a:spcAft>
                <a:spcPts val="0"/>
              </a:spcAft>
              <a:buNone/>
            </a:pPr>
            <a:endParaRPr dirty="0"/>
          </a:p>
        </p:txBody>
      </p:sp>
      <p:sp>
        <p:nvSpPr>
          <p:cNvPr id="203" name="Google Shape;203;g35a1eb37f4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909D5059-B046-1EB0-89A0-8A32337DCE5F}"/>
            </a:ext>
          </a:extLst>
        </p:cNvPr>
        <p:cNvGrpSpPr/>
        <p:nvPr/>
      </p:nvGrpSpPr>
      <p:grpSpPr>
        <a:xfrm>
          <a:off x="0" y="0"/>
          <a:ext cx="0" cy="0"/>
          <a:chOff x="0" y="0"/>
          <a:chExt cx="0" cy="0"/>
        </a:xfrm>
      </p:grpSpPr>
      <p:sp>
        <p:nvSpPr>
          <p:cNvPr id="222" name="Google Shape;222;p22:notes">
            <a:extLst>
              <a:ext uri="{FF2B5EF4-FFF2-40B4-BE49-F238E27FC236}">
                <a16:creationId xmlns:a16="http://schemas.microsoft.com/office/drawing/2014/main" id="{C04DCFCF-CAD6-35B6-3DF3-55030AAFBC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Our solution should be more focused on these problems!</a:t>
            </a:r>
            <a:endParaRPr b="0" dirty="0"/>
          </a:p>
        </p:txBody>
      </p:sp>
      <p:sp>
        <p:nvSpPr>
          <p:cNvPr id="223" name="Google Shape;223;p22:notes">
            <a:extLst>
              <a:ext uri="{FF2B5EF4-FFF2-40B4-BE49-F238E27FC236}">
                <a16:creationId xmlns:a16="http://schemas.microsoft.com/office/drawing/2014/main" id="{A6389BE6-D941-987D-52BD-A730F7B5B6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3642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dirty="0"/>
          </a:p>
          <a:p>
            <a:pPr marL="0" lvl="0" indent="0" algn="l" rtl="0">
              <a:lnSpc>
                <a:spcPct val="100000"/>
              </a:lnSpc>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4" y="765323"/>
            <a:ext cx="8245162" cy="1106260"/>
          </a:xfrm>
          <a:effectLst/>
        </p:spPr>
        <p:txBody>
          <a:bodyPr anchor="b">
            <a:normAutofit/>
          </a:bodyPr>
          <a:lstStyle>
            <a:lvl1pPr>
              <a:defRPr sz="27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1871584"/>
            <a:ext cx="8245160" cy="442741"/>
          </a:xfrm>
        </p:spPr>
        <p:txBody>
          <a:bodyPr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704463" y="4467103"/>
            <a:ext cx="2133600" cy="273844"/>
          </a:xfrm>
        </p:spPr>
        <p:txBody>
          <a:bodyPr/>
          <a:lstStyle>
            <a:lvl1pPr>
              <a:defRPr>
                <a:solidFill>
                  <a:schemeClr val="accent1">
                    <a:lumMod val="75000"/>
                    <a:lumOff val="25000"/>
                  </a:schemeClr>
                </a:solidFill>
              </a:defRPr>
            </a:lvl1pPr>
          </a:lstStyle>
          <a:p>
            <a:fld id="{C764DE79-268F-4C1A-8933-263129D2AF90}" type="datetimeFigureOut">
              <a:rPr lang="en-US" smtClean="0"/>
              <a:t>5/18/25</a:t>
            </a:fld>
            <a:endParaRPr lang="en-US" dirty="0"/>
          </a:p>
        </p:txBody>
      </p:sp>
      <p:sp>
        <p:nvSpPr>
          <p:cNvPr id="5" name="Footer Placeholder 4"/>
          <p:cNvSpPr>
            <a:spLocks noGrp="1"/>
          </p:cNvSpPr>
          <p:nvPr>
            <p:ph type="ftr" sz="quarter" idx="11"/>
          </p:nvPr>
        </p:nvSpPr>
        <p:spPr>
          <a:xfrm>
            <a:off x="435894" y="4463859"/>
            <a:ext cx="5187908" cy="273844"/>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7918725" y="4467103"/>
            <a:ext cx="762330" cy="273844"/>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246730222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526617"/>
            <a:ext cx="8272212" cy="76035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1635373"/>
            <a:ext cx="8272211" cy="2758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918725" y="4467103"/>
            <a:ext cx="789381" cy="273844"/>
          </a:xfrm>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11888876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3856481"/>
            <a:ext cx="8468145"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282933"/>
            <a:ext cx="8272211" cy="1123130"/>
          </a:xfrm>
        </p:spPr>
        <p:txBody>
          <a:bodyPr anchor="b">
            <a:normAutofit/>
          </a:bodyPr>
          <a:lstStyle>
            <a:lvl1pPr algn="l">
              <a:defRPr sz="27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3406063"/>
            <a:ext cx="8272211" cy="450417"/>
          </a:xfrm>
        </p:spPr>
        <p:txBody>
          <a:bodyPr anchor="t">
            <a:normAutofit/>
          </a:bodyPr>
          <a:lstStyle>
            <a:lvl1pPr marL="0" indent="0" algn="l">
              <a:buNone/>
              <a:defRPr sz="1350" cap="all">
                <a:solidFill>
                  <a:schemeClr val="accent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764DE79-268F-4C1A-8933-263129D2AF90}" type="datetimeFigureOut">
              <a:rPr lang="en-US" smtClean="0"/>
              <a:t>5/18/25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225161846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547244"/>
            <a:ext cx="8272212"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1671003"/>
            <a:ext cx="4066793"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1313" y="1671003"/>
            <a:ext cx="4066794"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40289371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334487"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435895" y="547244"/>
            <a:ext cx="8272212"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5415" y="1688169"/>
            <a:ext cx="3815306" cy="402004"/>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2802" y="1688169"/>
            <a:ext cx="3815305" cy="415030"/>
          </a:xfrm>
        </p:spPr>
        <p:txBody>
          <a:bodyPr anchor="b">
            <a:noAutofit/>
          </a:bodyPr>
          <a:lstStyle>
            <a:lvl1pPr marL="0" indent="0">
              <a:buNone/>
              <a:defRPr sz="1650" b="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282"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5/18/25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147459611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330512" y="454916"/>
            <a:ext cx="8475027"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431921" y="547244"/>
            <a:ext cx="8272212"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5/18/25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5778591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5/18/25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3088602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3856480"/>
            <a:ext cx="8473650" cy="9560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4" y="3946722"/>
            <a:ext cx="3682084" cy="517136"/>
          </a:xfrm>
        </p:spPr>
        <p:txBody>
          <a:bodyPr anchor="ctr"/>
          <a:lstStyle>
            <a:lvl1pPr algn="l">
              <a:defRPr sz="15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335862" y="450900"/>
            <a:ext cx="8469630" cy="3153600"/>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8" y="3946723"/>
            <a:ext cx="4402490" cy="517136"/>
          </a:xfrm>
        </p:spPr>
        <p:txBody>
          <a:bodyPr anchor="ctr">
            <a:normAutofit/>
          </a:bodyPr>
          <a:lstStyle>
            <a:lvl1pPr marL="0" indent="0" algn="r">
              <a:buNone/>
              <a:defRPr sz="825">
                <a:solidFill>
                  <a:schemeClr val="bg1"/>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64DE79-268F-4C1A-8933-263129D2AF90}" type="datetimeFigureOut">
              <a:rPr lang="en-US" smtClean="0"/>
              <a:t>5/18/25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124976581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3520042"/>
            <a:ext cx="8272212" cy="425054"/>
          </a:xfrm>
        </p:spPr>
        <p:txBody>
          <a:bodyPr anchor="b">
            <a:normAutofit/>
          </a:bodyPr>
          <a:lstStyle>
            <a:lvl1pPr algn="l">
              <a:defRPr sz="18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449794"/>
            <a:ext cx="8468144" cy="266793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3945096"/>
            <a:ext cx="8272213" cy="449003"/>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15151003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435894" y="526617"/>
            <a:ext cx="8272212"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7473297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1" y="449793"/>
            <a:ext cx="2180113" cy="4362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1" y="506795"/>
            <a:ext cx="1503123" cy="38873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3" y="506795"/>
            <a:ext cx="5922209" cy="388730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4467103"/>
            <a:ext cx="996106" cy="273844"/>
          </a:xfrm>
        </p:spPr>
        <p:txBody>
          <a:bodyPr/>
          <a:lstStyle>
            <a:lvl1pPr>
              <a:defRPr>
                <a:solidFill>
                  <a:schemeClr val="accent1">
                    <a:lumMod val="75000"/>
                    <a:lumOff val="25000"/>
                  </a:schemeClr>
                </a:solidFill>
              </a:defRPr>
            </a:lvl1pPr>
          </a:lstStyle>
          <a:p>
            <a:fld id="{C764DE79-268F-4C1A-8933-263129D2AF90}" type="datetimeFigureOut">
              <a:rPr lang="en-US" smtClean="0"/>
              <a:t>5/18/25</a:t>
            </a:fld>
            <a:endParaRPr lang="en-US" dirty="0"/>
          </a:p>
        </p:txBody>
      </p:sp>
      <p:sp>
        <p:nvSpPr>
          <p:cNvPr id="5" name="Footer Placeholder 4"/>
          <p:cNvSpPr>
            <a:spLocks noGrp="1"/>
          </p:cNvSpPr>
          <p:nvPr>
            <p:ph type="ftr" sz="quarter" idx="11"/>
          </p:nvPr>
        </p:nvSpPr>
        <p:spPr>
          <a:xfrm>
            <a:off x="581193" y="4463859"/>
            <a:ext cx="5922209" cy="273844"/>
          </a:xfrm>
        </p:spPr>
        <p:txBody>
          <a:bodyPr/>
          <a:lstStyle/>
          <a:p>
            <a:endParaRPr lang="en-US" dirty="0"/>
          </a:p>
        </p:txBody>
      </p:sp>
      <p:sp>
        <p:nvSpPr>
          <p:cNvPr id="6" name="Slide Number Placeholder 5"/>
          <p:cNvSpPr>
            <a:spLocks noGrp="1"/>
          </p:cNvSpPr>
          <p:nvPr>
            <p:ph type="sldNum" sz="quarter" idx="12"/>
          </p:nvPr>
        </p:nvSpPr>
        <p:spPr>
          <a:xfrm>
            <a:off x="7834962" y="4467103"/>
            <a:ext cx="873146" cy="273844"/>
          </a:xfrm>
        </p:spPr>
        <p:txBody>
          <a:bodyPr/>
          <a:lstStyle>
            <a:lvl1pPr>
              <a:defRPr>
                <a:solidFill>
                  <a:schemeClr val="accent1">
                    <a:lumMod val="75000"/>
                    <a:lumOff val="25000"/>
                  </a:schemeClr>
                </a:solidFill>
              </a:defRPr>
            </a:lvl1pPr>
          </a:lstStyle>
          <a:p>
            <a:pPr marL="0" lvl="0" indent="0" algn="r" rtl="0">
              <a:spcBef>
                <a:spcPts val="0"/>
              </a:spcBef>
              <a:spcAft>
                <a:spcPts val="0"/>
              </a:spcAft>
              <a:buNone/>
            </a:pPr>
            <a:fld id="{00000000-1234-1234-1234-123412341234}" type="slidenum">
              <a:rPr lang="es-MX" smtClean="0"/>
              <a:t>‹#›</a:t>
            </a:fld>
            <a:endParaRPr lang="es-MX"/>
          </a:p>
        </p:txBody>
      </p:sp>
    </p:spTree>
    <p:extLst>
      <p:ext uri="{BB962C8B-B14F-4D97-AF65-F5344CB8AC3E}">
        <p14:creationId xmlns:p14="http://schemas.microsoft.com/office/powerpoint/2010/main" val="129922485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MX"/>
              <a:t>‹#›</a:t>
            </a:fld>
            <a:endParaRPr/>
          </a:p>
        </p:txBody>
      </p:sp>
    </p:spTree>
    <p:extLst>
      <p:ext uri="{BB962C8B-B14F-4D97-AF65-F5344CB8AC3E}">
        <p14:creationId xmlns:p14="http://schemas.microsoft.com/office/powerpoint/2010/main" val="703467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7"/>
        <p:cNvGrpSpPr/>
        <p:nvPr/>
      </p:nvGrpSpPr>
      <p:grpSpPr>
        <a:xfrm>
          <a:off x="0" y="0"/>
          <a:ext cx="0" cy="0"/>
          <a:chOff x="0" y="0"/>
          <a:chExt cx="0" cy="0"/>
        </a:xfrm>
      </p:grpSpPr>
      <p:sp>
        <p:nvSpPr>
          <p:cNvPr id="18" name="Google Shape;18;p3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MX"/>
              <a:t>‹#›</a:t>
            </a:fld>
            <a:endParaRPr/>
          </a:p>
        </p:txBody>
      </p:sp>
    </p:spTree>
    <p:extLst>
      <p:ext uri="{BB962C8B-B14F-4D97-AF65-F5344CB8AC3E}">
        <p14:creationId xmlns:p14="http://schemas.microsoft.com/office/powerpoint/2010/main" val="4098303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528843"/>
            <a:ext cx="8272212"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1752002"/>
            <a:ext cx="8272212" cy="2642096"/>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4467103"/>
            <a:ext cx="2133599" cy="273844"/>
          </a:xfrm>
          <a:prstGeom prst="rect">
            <a:avLst/>
          </a:prstGeom>
        </p:spPr>
        <p:txBody>
          <a:bodyPr vert="horz" lIns="91440" tIns="45720" rIns="91440" bIns="45720" rtlCol="0" anchor="ctr"/>
          <a:lstStyle>
            <a:lvl1pPr algn="r">
              <a:defRPr sz="675">
                <a:solidFill>
                  <a:schemeClr val="accent2"/>
                </a:solidFill>
              </a:defRPr>
            </a:lvl1pPr>
          </a:lstStyle>
          <a:p>
            <a:fld id="{C764DE79-268F-4C1A-8933-263129D2AF90}" type="datetimeFigureOut">
              <a:rPr lang="en-US" smtClean="0"/>
              <a:t>5/18/25</a:t>
            </a:fld>
            <a:endParaRPr lang="en-US" dirty="0"/>
          </a:p>
        </p:txBody>
      </p:sp>
      <p:sp>
        <p:nvSpPr>
          <p:cNvPr id="5" name="Footer Placeholder 4"/>
          <p:cNvSpPr>
            <a:spLocks noGrp="1"/>
          </p:cNvSpPr>
          <p:nvPr>
            <p:ph type="ftr" sz="quarter" idx="3"/>
          </p:nvPr>
        </p:nvSpPr>
        <p:spPr>
          <a:xfrm>
            <a:off x="435894" y="4463859"/>
            <a:ext cx="5187908" cy="273844"/>
          </a:xfrm>
          <a:prstGeom prst="rect">
            <a:avLst/>
          </a:prstGeom>
        </p:spPr>
        <p:txBody>
          <a:bodyPr vert="horz" lIns="91440" tIns="45720" rIns="91440" bIns="45720" rtlCol="0" anchor="ctr"/>
          <a:lstStyle>
            <a:lvl1pPr algn="l">
              <a:defRPr sz="675"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918725" y="4467103"/>
            <a:ext cx="789383" cy="273844"/>
          </a:xfrm>
          <a:prstGeom prst="rect">
            <a:avLst/>
          </a:prstGeom>
        </p:spPr>
        <p:txBody>
          <a:bodyPr vert="horz" lIns="91440" tIns="45720" rIns="91440" bIns="45720" rtlCol="0" anchor="ctr"/>
          <a:lstStyle>
            <a:lvl1pPr algn="r">
              <a:defRPr sz="675">
                <a:solidFill>
                  <a:schemeClr val="accent2"/>
                </a:solidFill>
              </a:defRPr>
            </a:lvl1pPr>
          </a:lstStyle>
          <a:p>
            <a:pPr marL="0" lvl="0" indent="0" algn="r" rtl="0">
              <a:spcBef>
                <a:spcPts val="0"/>
              </a:spcBef>
              <a:spcAft>
                <a:spcPts val="0"/>
              </a:spcAft>
              <a:buNone/>
            </a:pPr>
            <a:fld id="{00000000-1234-1234-1234-123412341234}" type="slidenum">
              <a:rPr lang="es-MX" smtClean="0"/>
              <a:t>‹#›</a:t>
            </a:fld>
            <a:endParaRPr lang="es-MX"/>
          </a:p>
        </p:txBody>
      </p:sp>
      <p:sp>
        <p:nvSpPr>
          <p:cNvPr id="9" name="Rectangle 8"/>
          <p:cNvSpPr/>
          <p:nvPr/>
        </p:nvSpPr>
        <p:spPr>
          <a:xfrm>
            <a:off x="334900" y="342900"/>
            <a:ext cx="2777490" cy="7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6031610" y="340232"/>
            <a:ext cx="2777490" cy="739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181373"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728266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Lst>
  <p:hf sldNum="0" hdr="0" ftr="0" dt="0"/>
  <p:txStyles>
    <p:title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350" kern="1200">
          <a:solidFill>
            <a:schemeClr val="tx2"/>
          </a:solidFill>
          <a:latin typeface="+mn-lt"/>
          <a:ea typeface="+mn-ea"/>
          <a:cs typeface="+mn-cs"/>
        </a:defRPr>
      </a:lvl1pPr>
      <a:lvl2pPr marL="472500" indent="-229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2pPr>
      <a:lvl3pPr marL="675000" indent="-202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1050" kern="1200">
          <a:solidFill>
            <a:schemeClr val="tx2"/>
          </a:solidFill>
          <a:latin typeface="+mn-lt"/>
          <a:ea typeface="+mn-ea"/>
          <a:cs typeface="+mn-cs"/>
        </a:defRPr>
      </a:lvl3pPr>
      <a:lvl4pPr marL="93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4pPr>
      <a:lvl5pPr marL="1201500" indent="-17550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neval.org.mx/Medicion/Paginas/PobrezaInicio.aspx"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globaldatalab.org/shdi/shdi/MEX/?interpolation=0&amp;extrapolation=0&amp;nearest_real=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arena.org/en/news/fragmentation-and-inequalities-in-latin-american-healthcare-systems/"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hyperlink" Target="https://www.commonwealthfund.org/international-health-policy-center/countries/brazi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hyperlink" Target="https://ciep.mx/wp-content/uploads/2024/11/Gasto-para-salud-en-2025.-Recortes-en-hospitales-y-para-la-poblacion-sin-seguridad-social.pdf"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www.scielo.org.mx/scielo.php?script=sci_arttext&amp;pid=S0036-36342011000800017"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saludpublica.mx/index.php/spm/article/view/5761/6382"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13_0.xm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hyperlink" Target="https://www.thelancet.com/journals/lanam/article/PIIS2667-193X(24)00293-X/fulltext"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p:nvSpPr>
          <p:cNvPr id="57" name="Rectangle 56">
            <a:extLst>
              <a:ext uri="{FF2B5EF4-FFF2-40B4-BE49-F238E27FC236}">
                <a16:creationId xmlns:a16="http://schemas.microsoft.com/office/drawing/2014/main" id="{328C565D-A991-4381-AC37-76A58A4A1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Google Shape;54;p1"/>
          <p:cNvSpPr txBox="1">
            <a:spLocks noGrp="1"/>
          </p:cNvSpPr>
          <p:nvPr>
            <p:ph type="ctrTitle"/>
          </p:nvPr>
        </p:nvSpPr>
        <p:spPr>
          <a:xfrm>
            <a:off x="3337470" y="1130560"/>
            <a:ext cx="5471630" cy="2777490"/>
          </a:xfrm>
          <a:prstGeom prst="rect">
            <a:avLst/>
          </a:prstGeom>
        </p:spPr>
        <p:txBody>
          <a:bodyPr spcFirstLastPara="1" lIns="91425" tIns="91425" rIns="91425" bIns="91425" anchor="ctr" anchorCtr="0">
            <a:normAutofit/>
          </a:bodyPr>
          <a:lstStyle/>
          <a:p>
            <a:pPr marL="0" lvl="0" indent="0" rtl="0">
              <a:spcBef>
                <a:spcPts val="0"/>
              </a:spcBef>
              <a:spcAft>
                <a:spcPts val="0"/>
              </a:spcAft>
              <a:buSzPts val="5200"/>
              <a:buNone/>
            </a:pPr>
            <a:r>
              <a:rPr lang="es-MX" sz="3600" dirty="0"/>
              <a:t>Moral Hazard in the Mexican Healthcare System</a:t>
            </a:r>
          </a:p>
        </p:txBody>
      </p:sp>
      <p:sp>
        <p:nvSpPr>
          <p:cNvPr id="55" name="Google Shape;55;p1"/>
          <p:cNvSpPr txBox="1">
            <a:spLocks noGrp="1"/>
          </p:cNvSpPr>
          <p:nvPr>
            <p:ph type="subTitle" idx="1"/>
          </p:nvPr>
        </p:nvSpPr>
        <p:spPr>
          <a:xfrm>
            <a:off x="333256" y="1130560"/>
            <a:ext cx="2498086" cy="2777490"/>
          </a:xfrm>
          <a:prstGeom prst="rect">
            <a:avLst/>
          </a:prstGeom>
          <a:ln w="57150">
            <a:noFill/>
          </a:ln>
        </p:spPr>
        <p:txBody>
          <a:bodyPr spcFirstLastPara="1" lIns="91425" tIns="91425" rIns="91425" bIns="91425" anchor="ctr" anchorCtr="0">
            <a:normAutofit/>
          </a:bodyPr>
          <a:lstStyle/>
          <a:p>
            <a:pPr marL="0" lvl="0" indent="0" algn="r" rtl="0">
              <a:spcBef>
                <a:spcPts val="0"/>
              </a:spcBef>
              <a:spcAft>
                <a:spcPts val="600"/>
              </a:spcAft>
              <a:buSzPts val="2800"/>
              <a:buNone/>
            </a:pPr>
            <a:r>
              <a:rPr lang="es-MX" sz="1500" dirty="0"/>
              <a:t>Giuliana Triberti</a:t>
            </a:r>
          </a:p>
          <a:p>
            <a:pPr lvl="0" algn="r">
              <a:spcBef>
                <a:spcPts val="0"/>
              </a:spcBef>
              <a:spcAft>
                <a:spcPts val="600"/>
              </a:spcAft>
              <a:buSzPts val="2800"/>
            </a:pPr>
            <a:r>
              <a:rPr lang="es-MX" sz="1500" dirty="0"/>
              <a:t>Zixuan Zhou</a:t>
            </a:r>
            <a:endParaRPr lang="en-US" sz="1500" dirty="0"/>
          </a:p>
        </p:txBody>
      </p:sp>
      <p:sp>
        <p:nvSpPr>
          <p:cNvPr id="58" name="Rectangle 57">
            <a:extLst>
              <a:ext uri="{FF2B5EF4-FFF2-40B4-BE49-F238E27FC236}">
                <a16:creationId xmlns:a16="http://schemas.microsoft.com/office/drawing/2014/main" id="{B7180431-F4DE-415D-BCBB-9316423C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40231"/>
            <a:ext cx="8474200" cy="38453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Rectangle 58">
            <a:extLst>
              <a:ext uri="{FF2B5EF4-FFF2-40B4-BE49-F238E27FC236}">
                <a16:creationId xmlns:a16="http://schemas.microsoft.com/office/drawing/2014/main" id="{EEABD997-5EF9-4E9B-AFBB-F6DFAAF3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656798" y="2497283"/>
            <a:ext cx="2777490" cy="44045"/>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Rectangle 65">
            <a:extLst>
              <a:ext uri="{FF2B5EF4-FFF2-40B4-BE49-F238E27FC236}">
                <a16:creationId xmlns:a16="http://schemas.microsoft.com/office/drawing/2014/main" id="{E9AB5EE6-A047-4B18-B998-D46DF3CC3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408514"/>
            <a:ext cx="8474200" cy="38453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sp>
        <p:nvSpPr>
          <p:cNvPr id="66" name="Rectangle 65">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42900"/>
            <a:ext cx="2777490" cy="7124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8" name="Rectangle 67">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340232"/>
            <a:ext cx="2777490" cy="7391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Rectangle 71">
            <a:extLst>
              <a:ext uri="{FF2B5EF4-FFF2-40B4-BE49-F238E27FC236}">
                <a16:creationId xmlns:a16="http://schemas.microsoft.com/office/drawing/2014/main" id="{5BB74D4E-F243-4A10-813D-500A14025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460805"/>
            <a:ext cx="8482004" cy="89197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74" name="Rectangle 73">
            <a:extLst>
              <a:ext uri="{FF2B5EF4-FFF2-40B4-BE49-F238E27FC236}">
                <a16:creationId xmlns:a16="http://schemas.microsoft.com/office/drawing/2014/main" id="{E2B7D02C-F642-492B-8E97-FDE1C0FDA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Google Shape;60;p2"/>
          <p:cNvSpPr txBox="1">
            <a:spLocks noGrp="1"/>
          </p:cNvSpPr>
          <p:nvPr>
            <p:ph type="title"/>
          </p:nvPr>
        </p:nvSpPr>
        <p:spPr>
          <a:xfrm>
            <a:off x="435894" y="1130560"/>
            <a:ext cx="3840191" cy="2927499"/>
          </a:xfrm>
          <a:prstGeom prst="rect">
            <a:avLst/>
          </a:prstGeom>
        </p:spPr>
        <p:txBody>
          <a:bodyPr spcFirstLastPara="1" vert="horz" lIns="91440" tIns="45720" rIns="91440" bIns="45720" rtlCol="0" anchor="t" anchorCtr="0">
            <a:normAutofit/>
          </a:bodyPr>
          <a:lstStyle/>
          <a:p>
            <a:pPr marL="0" lvl="0" indent="0" defTabSz="457200">
              <a:spcBef>
                <a:spcPct val="0"/>
              </a:spcBef>
              <a:spcAft>
                <a:spcPts val="0"/>
              </a:spcAft>
              <a:buSzPct val="111111"/>
            </a:pPr>
            <a:r>
              <a:rPr lang="en-US" sz="3000" dirty="0">
                <a:solidFill>
                  <a:schemeClr val="accent2"/>
                </a:solidFill>
              </a:rPr>
              <a:t>Database</a:t>
            </a:r>
          </a:p>
        </p:txBody>
      </p:sp>
      <p:sp>
        <p:nvSpPr>
          <p:cNvPr id="76" name="Rectangle 75">
            <a:extLst>
              <a:ext uri="{FF2B5EF4-FFF2-40B4-BE49-F238E27FC236}">
                <a16:creationId xmlns:a16="http://schemas.microsoft.com/office/drawing/2014/main" id="{A2D0BA34-24BC-4C63-945A-90AA854E1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40231"/>
            <a:ext cx="8474200" cy="38453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Google Shape;61;p2"/>
          <p:cNvSpPr txBox="1">
            <a:spLocks noGrp="1"/>
          </p:cNvSpPr>
          <p:nvPr>
            <p:ph type="body" idx="1"/>
          </p:nvPr>
        </p:nvSpPr>
        <p:spPr>
          <a:xfrm>
            <a:off x="4800600" y="1130561"/>
            <a:ext cx="3907505" cy="2927498"/>
          </a:xfrm>
          <a:prstGeom prst="rect">
            <a:avLst/>
          </a:prstGeom>
          <a:ln w="57150">
            <a:noFill/>
          </a:ln>
        </p:spPr>
        <p:txBody>
          <a:bodyPr spcFirstLastPara="1" vert="horz" lIns="91440" tIns="45720" rIns="91440" bIns="45720" rtlCol="0" anchor="t" anchorCtr="0">
            <a:noAutofit/>
          </a:bodyPr>
          <a:lstStyle/>
          <a:p>
            <a:pPr marL="0" lvl="0" indent="0" defTabSz="457200">
              <a:spcBef>
                <a:spcPct val="20000"/>
              </a:spcBef>
              <a:spcAft>
                <a:spcPts val="600"/>
              </a:spcAft>
              <a:buSzPct val="92000"/>
              <a:buFont typeface="Wingdings 2" panose="05020102010507070707" pitchFamily="18" charset="2"/>
              <a:buChar char=""/>
            </a:pPr>
            <a:r>
              <a:rPr lang="en-US" sz="1400" dirty="0"/>
              <a:t>ENSANUT 2018 - INEGI</a:t>
            </a:r>
          </a:p>
          <a:p>
            <a:pPr marL="0" lvl="0" indent="0" defTabSz="457200">
              <a:spcBef>
                <a:spcPct val="20000"/>
              </a:spcBef>
              <a:spcAft>
                <a:spcPts val="600"/>
              </a:spcAft>
              <a:buSzPct val="92000"/>
              <a:buFont typeface="Wingdings 2" panose="05020102010507070707" pitchFamily="18" charset="2"/>
              <a:buChar char=""/>
            </a:pPr>
            <a:r>
              <a:rPr lang="en-US" sz="1400" dirty="0"/>
              <a:t>ENSANUT 2018 is the fourth full round of Mexico’s National Health and Nutrition Survey, conducted by the National Institute of Public Health (INSP) in collaboration with the National Institute of Statistics and Geography (INEGI) between July 2018 and June 2019. It delivers timely, nationally and subnationally representative data on the </a:t>
            </a:r>
            <a:r>
              <a:rPr lang="en-US" sz="1400" b="1" i="1" dirty="0"/>
              <a:t>health and nutritional status </a:t>
            </a:r>
            <a:r>
              <a:rPr lang="en-US" sz="1400" dirty="0"/>
              <a:t>of Mexico’s population, building on earlier surveys (2006, 2012, 2016) to track trends and inform policy. </a:t>
            </a:r>
          </a:p>
        </p:txBody>
      </p:sp>
      <p:sp>
        <p:nvSpPr>
          <p:cNvPr id="78" name="Rectangle 77">
            <a:extLst>
              <a:ext uri="{FF2B5EF4-FFF2-40B4-BE49-F238E27FC236}">
                <a16:creationId xmlns:a16="http://schemas.microsoft.com/office/drawing/2014/main" id="{0647415D-11C2-4BA0-A3EE-E0DA219B3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408514"/>
            <a:ext cx="8474200" cy="38453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BCF37337-D141-8C1D-35CB-7BF0505747F2}"/>
              </a:ext>
            </a:extLst>
          </p:cNvPr>
          <p:cNvSpPr txBox="1"/>
          <p:nvPr/>
        </p:nvSpPr>
        <p:spPr>
          <a:xfrm>
            <a:off x="435894" y="4463857"/>
            <a:ext cx="6504402" cy="230832"/>
          </a:xfrm>
          <a:prstGeom prst="rect">
            <a:avLst/>
          </a:prstGeom>
          <a:noFill/>
        </p:spPr>
        <p:txBody>
          <a:bodyPr wrap="square" rtlCol="0">
            <a:spAutoFit/>
          </a:bodyPr>
          <a:lstStyle/>
          <a:p>
            <a:r>
              <a:rPr lang="en-US" sz="900" dirty="0">
                <a:solidFill>
                  <a:schemeClr val="bg1"/>
                </a:solidFill>
              </a:rPr>
              <a:t>Source: ENSANUT 2018. https://</a:t>
            </a:r>
            <a:r>
              <a:rPr lang="en-US" sz="900" dirty="0" err="1">
                <a:solidFill>
                  <a:schemeClr val="bg1"/>
                </a:solidFill>
              </a:rPr>
              <a:t>en.www.inegi.org.mx</a:t>
            </a:r>
            <a:r>
              <a:rPr lang="en-US" sz="900" dirty="0">
                <a:solidFill>
                  <a:schemeClr val="bg1"/>
                </a:solidFill>
              </a:rPr>
              <a:t>/</a:t>
            </a:r>
            <a:r>
              <a:rPr lang="en-US" sz="900" dirty="0" err="1">
                <a:solidFill>
                  <a:schemeClr val="bg1"/>
                </a:solidFill>
              </a:rPr>
              <a:t>programas</a:t>
            </a:r>
            <a:r>
              <a:rPr lang="en-US" sz="900" dirty="0">
                <a:solidFill>
                  <a:schemeClr val="bg1"/>
                </a:solidFill>
              </a:rPr>
              <a:t>/</a:t>
            </a:r>
            <a:r>
              <a:rPr lang="en-US" sz="900" dirty="0" err="1">
                <a:solidFill>
                  <a:schemeClr val="bg1"/>
                </a:solidFill>
              </a:rPr>
              <a:t>ensanut</a:t>
            </a:r>
            <a:r>
              <a:rPr lang="en-US" sz="900" dirty="0">
                <a:solidFill>
                  <a:schemeClr val="bg1"/>
                </a:solidFill>
              </a:rPr>
              <a:t>/2018/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title"/>
          </p:nvPr>
        </p:nvSpPr>
        <p:spPr>
          <a:xfrm>
            <a:off x="214307" y="351338"/>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Handling data for Mexico	</a:t>
            </a:r>
            <a:endParaRPr dirty="0">
              <a:solidFill>
                <a:schemeClr val="accent1"/>
              </a:solidFill>
            </a:endParaRPr>
          </a:p>
        </p:txBody>
      </p:sp>
      <p:sp>
        <p:nvSpPr>
          <p:cNvPr id="67" name="Google Shape;67;p3"/>
          <p:cNvSpPr txBox="1">
            <a:spLocks noGrp="1"/>
          </p:cNvSpPr>
          <p:nvPr>
            <p:ph type="body" idx="1"/>
          </p:nvPr>
        </p:nvSpPr>
        <p:spPr>
          <a:xfrm>
            <a:off x="223451" y="488238"/>
            <a:ext cx="8520600" cy="88132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825"/>
              <a:buFont typeface="Arial"/>
              <a:buNone/>
            </a:pPr>
            <a:r>
              <a:rPr lang="es-MX" sz="900" dirty="0">
                <a:solidFill>
                  <a:schemeClr val="dk1"/>
                </a:solidFill>
              </a:rPr>
              <a:t>Although Mexico is classified as an upper-middle-income country by the World Bank due to its Gross National Income (GNI) per capita, large segments of the population experience conditions typical of low-income settings, particularly in rural areas and among Indigenous communities. The relatively high GDP per capita is skewed by concentrated wealth and does not reflect the lived reality of many Mexicans, thereby limiting the utility of such aggregate indicators in capturing the country's development challenges. Comparing some of these states with the general Lower-middle-income countries (LMICs) figures, we can observe similarities. </a:t>
            </a:r>
            <a:endParaRPr sz="900" dirty="0">
              <a:solidFill>
                <a:schemeClr val="dk1"/>
              </a:solidFill>
            </a:endParaRPr>
          </a:p>
        </p:txBody>
      </p:sp>
      <p:graphicFrame>
        <p:nvGraphicFramePr>
          <p:cNvPr id="68" name="Google Shape;68;p3"/>
          <p:cNvGraphicFramePr/>
          <p:nvPr>
            <p:extLst>
              <p:ext uri="{D42A27DB-BD31-4B8C-83A1-F6EECF244321}">
                <p14:modId xmlns:p14="http://schemas.microsoft.com/office/powerpoint/2010/main" val="1827937917"/>
              </p:ext>
            </p:extLst>
          </p:nvPr>
        </p:nvGraphicFramePr>
        <p:xfrm>
          <a:off x="239425" y="1396990"/>
          <a:ext cx="4055175" cy="3504900"/>
        </p:xfrm>
        <a:graphic>
          <a:graphicData uri="http://schemas.openxmlformats.org/drawingml/2006/table">
            <a:tbl>
              <a:tblPr>
                <a:tableStyleId>{3B4B98B0-60AC-42C2-AFA5-B58CD77FA1E5}</a:tableStyleId>
              </a:tblPr>
              <a:tblGrid>
                <a:gridCol w="1351725">
                  <a:extLst>
                    <a:ext uri="{9D8B030D-6E8A-4147-A177-3AD203B41FA5}">
                      <a16:colId xmlns:a16="http://schemas.microsoft.com/office/drawing/2014/main" val="20000"/>
                    </a:ext>
                  </a:extLst>
                </a:gridCol>
                <a:gridCol w="1351725">
                  <a:extLst>
                    <a:ext uri="{9D8B030D-6E8A-4147-A177-3AD203B41FA5}">
                      <a16:colId xmlns:a16="http://schemas.microsoft.com/office/drawing/2014/main" val="20001"/>
                    </a:ext>
                  </a:extLst>
                </a:gridCol>
                <a:gridCol w="1351725">
                  <a:extLst>
                    <a:ext uri="{9D8B030D-6E8A-4147-A177-3AD203B41FA5}">
                      <a16:colId xmlns:a16="http://schemas.microsoft.com/office/drawing/2014/main" val="20002"/>
                    </a:ext>
                  </a:extLst>
                </a:gridCol>
              </a:tblGrid>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b="1" u="none" strike="noStrike" cap="none" dirty="0">
                          <a:sym typeface="Times New Roman"/>
                        </a:rPr>
                        <a:t>State</a:t>
                      </a:r>
                      <a:endParaRPr sz="1000" b="1" u="none" strike="noStrike" cap="none" dirty="0">
                        <a:latin typeface="+mn-lt"/>
                        <a:ea typeface="Times New Roman"/>
                        <a:cs typeface="Times New Roman"/>
                        <a:sym typeface="Times New Roman"/>
                      </a:endParaRPr>
                    </a:p>
                  </a:txBody>
                  <a:tcPr marL="91425" marR="91425" marT="91425" marB="91425">
                    <a:lnB w="12700" cap="flat" cmpd="sng" algn="ctr">
                      <a:solidFill>
                        <a:schemeClr val="accent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b="1" u="none" strike="noStrike" cap="none" dirty="0">
                          <a:sym typeface="Times New Roman"/>
                        </a:rPr>
                        <a:t>Poverty Rate (%)</a:t>
                      </a:r>
                      <a:endParaRPr sz="1000" b="1" u="none" strike="noStrike" cap="none" dirty="0">
                        <a:latin typeface="+mn-lt"/>
                        <a:ea typeface="Times New Roman"/>
                        <a:cs typeface="Times New Roman"/>
                        <a:sym typeface="Times New Roman"/>
                      </a:endParaRPr>
                    </a:p>
                  </a:txBody>
                  <a:tcPr marL="91425" marR="91425" marT="91425" marB="91425">
                    <a:lnB w="12700" cap="flat" cmpd="sng" algn="ctr">
                      <a:solidFill>
                        <a:schemeClr val="accent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b="1" u="none" strike="noStrike" cap="none" dirty="0">
                          <a:sym typeface="Times New Roman"/>
                        </a:rPr>
                        <a:t>Extreme Poverty (%)</a:t>
                      </a:r>
                      <a:endParaRPr sz="1000" b="1" u="none" strike="noStrike" cap="none" dirty="0">
                        <a:latin typeface="+mn-lt"/>
                        <a:ea typeface="Times New Roman"/>
                        <a:cs typeface="Times New Roman"/>
                        <a:sym typeface="Times New Roman"/>
                      </a:endParaRPr>
                    </a:p>
                  </a:txBody>
                  <a:tcPr marL="91425" marR="91425" marT="91425" marB="91425">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Chiapas</a:t>
                      </a:r>
                      <a:endParaRPr sz="1000" u="none" strike="noStrike" cap="none">
                        <a:latin typeface="+mn-lt"/>
                        <a:ea typeface="Times New Roman"/>
                        <a:cs typeface="Times New Roman"/>
                        <a:sym typeface="Times New Roman"/>
                      </a:endParaRPr>
                    </a:p>
                  </a:txBody>
                  <a:tcPr marL="91425" marR="91425" marT="91425" marB="91425">
                    <a:lnT w="12700" cap="flat" cmpd="sng" algn="ctr">
                      <a:solidFill>
                        <a:schemeClr val="accent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67.4</a:t>
                      </a:r>
                      <a:endParaRPr sz="1000" u="none" strike="noStrike" cap="none">
                        <a:latin typeface="+mn-lt"/>
                        <a:ea typeface="Times New Roman"/>
                        <a:cs typeface="Times New Roman"/>
                        <a:sym typeface="Times New Roman"/>
                      </a:endParaRPr>
                    </a:p>
                  </a:txBody>
                  <a:tcPr marL="91425" marR="91425" marT="91425" marB="91425">
                    <a:lnT w="12700" cap="flat" cmpd="sng" algn="ctr">
                      <a:solidFill>
                        <a:schemeClr val="accent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28.2</a:t>
                      </a:r>
                      <a:endParaRPr sz="1000" u="none" strike="noStrike" cap="none" dirty="0">
                        <a:latin typeface="+mn-lt"/>
                        <a:ea typeface="Times New Roman"/>
                        <a:cs typeface="Times New Roman"/>
                        <a:sym typeface="Times New Roman"/>
                      </a:endParaRPr>
                    </a:p>
                  </a:txBody>
                  <a:tcPr marL="91425" marR="91425" marT="91425" marB="91425">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0001"/>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Guerrero </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60.4</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22.2</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Oaxaca</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58.4</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20.2</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Veracruz</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54.0</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11.4</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Puebla</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52.5</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6.5</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Hidalgo</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51.7</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13.1</a:t>
                      </a:r>
                      <a:endParaRPr sz="1000" u="none" strike="noStrike" cap="none">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Tlaxcala</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46.4</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11.1</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Tabasco</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45.1</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9.6</a:t>
                      </a:r>
                      <a:endParaRPr sz="1000" u="none" strike="noStrike" cap="none">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Guanajuato</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44.2</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5.1</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bl>
          </a:graphicData>
        </a:graphic>
      </p:graphicFrame>
      <p:graphicFrame>
        <p:nvGraphicFramePr>
          <p:cNvPr id="69" name="Google Shape;69;p3"/>
          <p:cNvGraphicFramePr/>
          <p:nvPr>
            <p:extLst>
              <p:ext uri="{D42A27DB-BD31-4B8C-83A1-F6EECF244321}">
                <p14:modId xmlns:p14="http://schemas.microsoft.com/office/powerpoint/2010/main" val="1662739697"/>
              </p:ext>
            </p:extLst>
          </p:nvPr>
        </p:nvGraphicFramePr>
        <p:xfrm>
          <a:off x="4447175" y="1396990"/>
          <a:ext cx="4055175" cy="2499150"/>
        </p:xfrm>
        <a:graphic>
          <a:graphicData uri="http://schemas.openxmlformats.org/drawingml/2006/table">
            <a:tbl>
              <a:tblPr>
                <a:tableStyleId>{3B4B98B0-60AC-42C2-AFA5-B58CD77FA1E5}</a:tableStyleId>
              </a:tblPr>
              <a:tblGrid>
                <a:gridCol w="1351725">
                  <a:extLst>
                    <a:ext uri="{9D8B030D-6E8A-4147-A177-3AD203B41FA5}">
                      <a16:colId xmlns:a16="http://schemas.microsoft.com/office/drawing/2014/main" val="20000"/>
                    </a:ext>
                  </a:extLst>
                </a:gridCol>
                <a:gridCol w="1351725">
                  <a:extLst>
                    <a:ext uri="{9D8B030D-6E8A-4147-A177-3AD203B41FA5}">
                      <a16:colId xmlns:a16="http://schemas.microsoft.com/office/drawing/2014/main" val="20001"/>
                    </a:ext>
                  </a:extLst>
                </a:gridCol>
                <a:gridCol w="1351725">
                  <a:extLst>
                    <a:ext uri="{9D8B030D-6E8A-4147-A177-3AD203B41FA5}">
                      <a16:colId xmlns:a16="http://schemas.microsoft.com/office/drawing/2014/main" val="20002"/>
                    </a:ext>
                  </a:extLst>
                </a:gridCol>
              </a:tblGrid>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b="1" u="none" strike="noStrike" cap="none" dirty="0">
                          <a:sym typeface="Times New Roman"/>
                        </a:rPr>
                        <a:t>Country</a:t>
                      </a:r>
                      <a:endParaRPr sz="1000" b="1" u="none" strike="noStrike" cap="none" dirty="0">
                        <a:latin typeface="+mn-lt"/>
                        <a:ea typeface="Times New Roman"/>
                        <a:cs typeface="Times New Roman"/>
                        <a:sym typeface="Times New Roman"/>
                      </a:endParaRPr>
                    </a:p>
                  </a:txBody>
                  <a:tcPr marL="91425" marR="91425" marT="91425" marB="91425">
                    <a:lnB w="12700" cap="flat" cmpd="sng" algn="ctr">
                      <a:solidFill>
                        <a:schemeClr val="accent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b="1" u="none" strike="noStrike" cap="none" dirty="0">
                          <a:sym typeface="Times New Roman"/>
                        </a:rPr>
                        <a:t>Poverty Rate (%)</a:t>
                      </a:r>
                      <a:endParaRPr sz="1000" b="1" u="none" strike="noStrike" cap="none" dirty="0">
                        <a:latin typeface="+mn-lt"/>
                        <a:ea typeface="Times New Roman"/>
                        <a:cs typeface="Times New Roman"/>
                        <a:sym typeface="Times New Roman"/>
                      </a:endParaRPr>
                    </a:p>
                  </a:txBody>
                  <a:tcPr marL="91425" marR="91425" marT="91425" marB="91425">
                    <a:lnB w="12700" cap="flat" cmpd="sng" algn="ctr">
                      <a:solidFill>
                        <a:schemeClr val="accent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b="1" u="none" strike="noStrike" cap="none" dirty="0">
                          <a:sym typeface="Times New Roman"/>
                        </a:rPr>
                        <a:t>Extreme Poverty (%)</a:t>
                      </a:r>
                      <a:endParaRPr sz="1000" b="1" u="none" strike="noStrike" cap="none" dirty="0">
                        <a:latin typeface="+mn-lt"/>
                        <a:ea typeface="Times New Roman"/>
                        <a:cs typeface="Times New Roman"/>
                        <a:sym typeface="Times New Roman"/>
                      </a:endParaRPr>
                    </a:p>
                  </a:txBody>
                  <a:tcPr marL="91425" marR="91425" marT="91425" marB="91425">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Nigeria</a:t>
                      </a:r>
                      <a:endParaRPr sz="1000" u="none" strike="noStrike" cap="none" dirty="0">
                        <a:latin typeface="+mn-lt"/>
                        <a:ea typeface="Times New Roman"/>
                        <a:cs typeface="Times New Roman"/>
                        <a:sym typeface="Times New Roman"/>
                      </a:endParaRPr>
                    </a:p>
                  </a:txBody>
                  <a:tcPr marL="91425" marR="91425" marT="91425" marB="91425">
                    <a:lnT w="12700" cap="flat" cmpd="sng" algn="ctr">
                      <a:solidFill>
                        <a:schemeClr val="accent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~63</a:t>
                      </a:r>
                      <a:endParaRPr sz="1000" u="none" strike="noStrike" cap="none">
                        <a:latin typeface="+mn-lt"/>
                        <a:ea typeface="Times New Roman"/>
                        <a:cs typeface="Times New Roman"/>
                        <a:sym typeface="Times New Roman"/>
                      </a:endParaRPr>
                    </a:p>
                  </a:txBody>
                  <a:tcPr marL="91425" marR="91425" marT="91425" marB="91425">
                    <a:lnT w="12700" cap="flat" cmpd="sng" algn="ctr">
                      <a:solidFill>
                        <a:schemeClr val="accent1"/>
                      </a:solidFill>
                      <a:prstDash val="solid"/>
                      <a:round/>
                      <a:headEnd type="none" w="med" len="med"/>
                      <a:tailEnd type="none" w="med" len="med"/>
                    </a:lnT>
                  </a:tcPr>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~36</a:t>
                      </a:r>
                      <a:endParaRPr sz="1000" u="none" strike="noStrike" cap="none">
                        <a:latin typeface="+mn-lt"/>
                        <a:ea typeface="Times New Roman"/>
                        <a:cs typeface="Times New Roman"/>
                        <a:sym typeface="Times New Roman"/>
                      </a:endParaRPr>
                    </a:p>
                  </a:txBody>
                  <a:tcPr marL="91425" marR="91425" marT="91425" marB="91425">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0001"/>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India</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~22</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~10 (pre-COVID est.)</a:t>
                      </a:r>
                      <a:endParaRPr sz="1000" u="none" strike="noStrike" cap="none">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Bangladesh</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~25</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~12</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Honduras</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~53</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~22</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Pakistan</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~39</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~21</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288825">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Kenya</a:t>
                      </a:r>
                      <a:endParaRPr sz="1000" u="none" strike="noStrike" cap="none" dirty="0">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a:sym typeface="Times New Roman"/>
                        </a:rPr>
                        <a:t>~36</a:t>
                      </a:r>
                      <a:endParaRPr sz="1000" u="none" strike="noStrike" cap="none">
                        <a:latin typeface="+mn-lt"/>
                        <a:ea typeface="Times New Roman"/>
                        <a:cs typeface="Times New Roman"/>
                        <a:sym typeface="Times New Roman"/>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000"/>
                        <a:buFont typeface="Arial"/>
                        <a:buNone/>
                      </a:pPr>
                      <a:r>
                        <a:rPr lang="es-MX" sz="1000" u="none" strike="noStrike" cap="none" dirty="0">
                          <a:sym typeface="Times New Roman"/>
                        </a:rPr>
                        <a:t>~17</a:t>
                      </a:r>
                      <a:endParaRPr sz="1000" u="none" strike="noStrike" cap="none" dirty="0">
                        <a:latin typeface="+mn-lt"/>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bl>
          </a:graphicData>
        </a:graphic>
      </p:graphicFrame>
      <p:sp>
        <p:nvSpPr>
          <p:cNvPr id="70" name="Google Shape;70;p3"/>
          <p:cNvSpPr txBox="1"/>
          <p:nvPr/>
        </p:nvSpPr>
        <p:spPr>
          <a:xfrm>
            <a:off x="4447175" y="4240425"/>
            <a:ext cx="44574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MX" sz="800" b="0" i="0" u="none" strike="noStrike" cap="none" dirty="0">
                <a:solidFill>
                  <a:schemeClr val="dk1"/>
                </a:solidFill>
                <a:latin typeface="Arial"/>
                <a:ea typeface="Arial"/>
                <a:cs typeface="Arial"/>
                <a:sym typeface="Arial"/>
              </a:rPr>
              <a:t>Source: Consejo Nacional de Evaluación de la Política de Desarrollo Social (CONEVAL). (2023). </a:t>
            </a:r>
            <a:r>
              <a:rPr lang="es-MX" sz="800" b="0" i="1" u="none" strike="noStrike" cap="none" dirty="0">
                <a:solidFill>
                  <a:schemeClr val="dk1"/>
                </a:solidFill>
                <a:latin typeface="Arial"/>
                <a:ea typeface="Arial"/>
                <a:cs typeface="Arial"/>
                <a:sym typeface="Arial"/>
              </a:rPr>
              <a:t>Medición de la pobreza en México 2022</a:t>
            </a:r>
            <a:r>
              <a:rPr lang="es-MX" sz="800" b="0" i="0" u="none" strike="noStrike" cap="none" dirty="0">
                <a:solidFill>
                  <a:schemeClr val="dk1"/>
                </a:solidFill>
                <a:latin typeface="Arial"/>
                <a:ea typeface="Arial"/>
                <a:cs typeface="Arial"/>
                <a:sym typeface="Arial"/>
              </a:rPr>
              <a:t>. </a:t>
            </a:r>
            <a:r>
              <a:rPr lang="es-MX" sz="800" b="0" i="0" u="sng" strike="noStrike" cap="none" dirty="0">
                <a:solidFill>
                  <a:srgbClr val="2200CC"/>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https://www.coneval.org.mx/Medicion/Paginas/PobrezaInicio.aspx</a:t>
            </a:r>
            <a:endParaRPr sz="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s-MX" sz="800" b="0" i="0" u="none" strike="noStrike" cap="none" dirty="0">
                <a:solidFill>
                  <a:schemeClr val="dk1"/>
                </a:solidFill>
                <a:latin typeface="Arial"/>
                <a:ea typeface="Arial"/>
                <a:cs typeface="Arial"/>
                <a:sym typeface="Arial"/>
              </a:rPr>
              <a:t>Global Data Lab. (2022). </a:t>
            </a:r>
            <a:r>
              <a:rPr lang="es-MX" sz="800" b="0" i="1" u="none" strike="noStrike" cap="none" dirty="0">
                <a:solidFill>
                  <a:schemeClr val="dk1"/>
                </a:solidFill>
                <a:latin typeface="Arial"/>
                <a:ea typeface="Arial"/>
                <a:cs typeface="Arial"/>
                <a:sym typeface="Arial"/>
              </a:rPr>
              <a:t>Subnational Human Development Index (SHDI) – Mexico</a:t>
            </a:r>
            <a:r>
              <a:rPr lang="es-MX" sz="800" b="0" i="0" u="none" strike="noStrike" cap="none" dirty="0">
                <a:solidFill>
                  <a:schemeClr val="dk1"/>
                </a:solidFill>
                <a:latin typeface="Arial"/>
                <a:ea typeface="Arial"/>
                <a:cs typeface="Arial"/>
                <a:sym typeface="Arial"/>
              </a:rPr>
              <a:t>. </a:t>
            </a:r>
            <a:r>
              <a:rPr lang="es-MX" sz="800" b="0" i="0" u="sng" strike="noStrike" cap="none" dirty="0">
                <a:solidFill>
                  <a:srgbClr val="2200CC"/>
                </a:solidFill>
                <a:latin typeface="Arial"/>
                <a:ea typeface="Arial"/>
                <a:cs typeface="Arial"/>
                <a:sym typeface="Arial"/>
                <a:hlinkClick r:id="rId4">
                  <a:extLst>
                    <a:ext uri="{A12FA001-AC4F-418D-AE19-62706E023703}">
                      <ahyp:hlinkClr xmlns:ahyp="http://schemas.microsoft.com/office/drawing/2018/hyperlinkcolor" val="tx"/>
                    </a:ext>
                  </a:extLst>
                </a:hlinkClick>
              </a:rPr>
              <a:t>https://globaldatalab.org/shdi/shdi/MEX/?interpolation=0&amp;extrapolation=0&amp;nearest_real=0</a:t>
            </a:r>
            <a:endParaRPr sz="11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4"/>
        <p:cNvGrpSpPr/>
        <p:nvPr/>
      </p:nvGrpSpPr>
      <p:grpSpPr>
        <a:xfrm>
          <a:off x="0" y="0"/>
          <a:ext cx="0" cy="0"/>
          <a:chOff x="0" y="0"/>
          <a:chExt cx="0" cy="0"/>
        </a:xfrm>
      </p:grpSpPr>
      <p:sp>
        <p:nvSpPr>
          <p:cNvPr id="97" name="Rectangle 96">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42900"/>
            <a:ext cx="2777490" cy="7124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8" name="Rectangle 97">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340232"/>
            <a:ext cx="2777490" cy="7391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9" name="Rectangle 98">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0" name="Rectangle 99">
            <a:extLst>
              <a:ext uri="{FF2B5EF4-FFF2-40B4-BE49-F238E27FC236}">
                <a16:creationId xmlns:a16="http://schemas.microsoft.com/office/drawing/2014/main" id="{993F09C6-4F57-4B05-9592-E253D8BC6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460805"/>
            <a:ext cx="8482004" cy="89197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1" name="Rectangle 100">
            <a:extLst>
              <a:ext uri="{FF2B5EF4-FFF2-40B4-BE49-F238E27FC236}">
                <a16:creationId xmlns:a16="http://schemas.microsoft.com/office/drawing/2014/main" id="{636F6DB7-CF8D-494A-82F6-13B58DCA9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0B7E5194-6E82-4A44-99C3-FE7D87F34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1782" y="460805"/>
            <a:ext cx="2780608" cy="420882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93" name="Group 92">
            <a:extLst>
              <a:ext uri="{FF2B5EF4-FFF2-40B4-BE49-F238E27FC236}">
                <a16:creationId xmlns:a16="http://schemas.microsoft.com/office/drawing/2014/main" id="{49FCC1E1-84D3-494D-A0A0-286AFA1C30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4900" y="340232"/>
            <a:ext cx="8474200" cy="73915"/>
            <a:chOff x="446534" y="453643"/>
            <a:chExt cx="11298933" cy="98554"/>
          </a:xfrm>
        </p:grpSpPr>
        <p:sp>
          <p:nvSpPr>
            <p:cNvPr id="94" name="Rectangle 93">
              <a:extLst>
                <a:ext uri="{FF2B5EF4-FFF2-40B4-BE49-F238E27FC236}">
                  <a16:creationId xmlns:a16="http://schemas.microsoft.com/office/drawing/2014/main" id="{96E09E90-FF79-402E-AF01-97A279BEA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5" name="Rectangle 94">
              <a:extLst>
                <a:ext uri="{FF2B5EF4-FFF2-40B4-BE49-F238E27FC236}">
                  <a16:creationId xmlns:a16="http://schemas.microsoft.com/office/drawing/2014/main" id="{EC6946F8-4B9B-4C51-9F51-2DB377392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6" name="Rectangle 95">
              <a:extLst>
                <a:ext uri="{FF2B5EF4-FFF2-40B4-BE49-F238E27FC236}">
                  <a16:creationId xmlns:a16="http://schemas.microsoft.com/office/drawing/2014/main" id="{7B3D2B3D-A285-438C-A344-AED3E46A0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76" name="Google Shape;76;p4"/>
          <p:cNvSpPr txBox="1"/>
          <p:nvPr/>
        </p:nvSpPr>
        <p:spPr>
          <a:xfrm>
            <a:off x="573082" y="1539063"/>
            <a:ext cx="2274937" cy="2892171"/>
          </a:xfrm>
          <a:prstGeom prst="rect">
            <a:avLst/>
          </a:prstGeom>
        </p:spPr>
        <p:txBody>
          <a:bodyPr spcFirstLastPara="1" vert="horz" lIns="91440" tIns="45720" rIns="91440" bIns="45720" rtlCol="0" anchor="t" anchorCtr="0">
            <a:normAutofit/>
          </a:bodyPr>
          <a:lstStyle/>
          <a:p>
            <a:pPr marL="0" marR="0" lvl="0" indent="0">
              <a:spcBef>
                <a:spcPct val="20000"/>
              </a:spcBef>
              <a:spcAft>
                <a:spcPts val="600"/>
              </a:spcAft>
              <a:buClr>
                <a:schemeClr val="accent2"/>
              </a:buClr>
              <a:buSzPct val="92000"/>
              <a:buFont typeface="Wingdings 2" panose="05020102010507070707" pitchFamily="18" charset="2"/>
              <a:buChar char=""/>
            </a:pPr>
            <a:r>
              <a:rPr lang="en-US" sz="1200" b="0" i="0" u="none" strike="noStrike" cap="none">
                <a:solidFill>
                  <a:srgbClr val="FFFFFF"/>
                </a:solidFill>
                <a:sym typeface="Arial"/>
              </a:rPr>
              <a:t>Not considering: Mexico City, Jalisco, Querétaro, Nuevo León, and Baja California</a:t>
            </a:r>
            <a:endParaRPr lang="en-US" sz="1200">
              <a:solidFill>
                <a:srgbClr val="FFFFFF"/>
              </a:solidFill>
            </a:endParaRPr>
          </a:p>
        </p:txBody>
      </p:sp>
      <p:pic>
        <p:nvPicPr>
          <p:cNvPr id="75" name="Google Shape;75;p4"/>
          <p:cNvPicPr preferRelativeResize="0"/>
          <p:nvPr/>
        </p:nvPicPr>
        <p:blipFill rotWithShape="1">
          <a:blip r:embed="rId3"/>
          <a:stretch/>
        </p:blipFill>
        <p:spPr>
          <a:xfrm>
            <a:off x="3252864" y="1113132"/>
            <a:ext cx="5653392" cy="3248556"/>
          </a:xfrm>
          <a:prstGeom prst="rect">
            <a:avLst/>
          </a:prstGeom>
          <a:noFill/>
        </p:spPr>
      </p:pic>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0"/>
        <p:cNvGrpSpPr/>
        <p:nvPr/>
      </p:nvGrpSpPr>
      <p:grpSpPr>
        <a:xfrm>
          <a:off x="0" y="0"/>
          <a:ext cx="0" cy="0"/>
          <a:chOff x="0" y="0"/>
          <a:chExt cx="0" cy="0"/>
        </a:xfrm>
      </p:grpSpPr>
      <p:sp>
        <p:nvSpPr>
          <p:cNvPr id="81" name="Google Shape;81;p5"/>
          <p:cNvSpPr txBox="1">
            <a:spLocks noGrp="1"/>
          </p:cNvSpPr>
          <p:nvPr>
            <p:ph type="title"/>
          </p:nvPr>
        </p:nvSpPr>
        <p:spPr>
          <a:xfrm>
            <a:off x="412520" y="566484"/>
            <a:ext cx="2804505" cy="998129"/>
          </a:xfrm>
          <a:prstGeom prst="rect">
            <a:avLst/>
          </a:prstGeom>
        </p:spPr>
        <p:txBody>
          <a:bodyPr spcFirstLastPara="1" vert="horz" lIns="91440" tIns="45720" rIns="91440" bIns="45720" rtlCol="0" anchor="ctr" anchorCtr="0">
            <a:normAutofit fontScale="90000"/>
          </a:bodyPr>
          <a:lstStyle/>
          <a:p>
            <a:pPr marL="0" lvl="0" indent="0" defTabSz="914400">
              <a:lnSpc>
                <a:spcPct val="90000"/>
              </a:lnSpc>
              <a:spcBef>
                <a:spcPct val="0"/>
              </a:spcBef>
              <a:spcAft>
                <a:spcPts val="0"/>
              </a:spcAft>
              <a:buSzPts val="3111"/>
            </a:pPr>
            <a:r>
              <a:rPr lang="en-US" sz="2100" b="1" kern="1200" dirty="0">
                <a:solidFill>
                  <a:schemeClr val="accent1"/>
                </a:solidFill>
                <a:latin typeface="+mj-lt"/>
                <a:ea typeface="+mj-ea"/>
                <a:cs typeface="+mj-cs"/>
              </a:rPr>
              <a:t>How is the Mexican Healthcare System divided?</a:t>
            </a:r>
          </a:p>
        </p:txBody>
      </p:sp>
      <p:sp>
        <p:nvSpPr>
          <p:cNvPr id="83" name="Google Shape;83;p5"/>
          <p:cNvSpPr txBox="1"/>
          <p:nvPr/>
        </p:nvSpPr>
        <p:spPr>
          <a:xfrm>
            <a:off x="412519" y="1728216"/>
            <a:ext cx="2570251" cy="2931440"/>
          </a:xfrm>
          <a:prstGeom prst="rect">
            <a:avLst/>
          </a:prstGeom>
        </p:spPr>
        <p:txBody>
          <a:bodyPr spcFirstLastPara="1" vert="horz" lIns="91440" tIns="45720" rIns="91440" bIns="45720" rtlCol="0" anchorCtr="0">
            <a:normAutofit lnSpcReduction="10000"/>
          </a:bodyPr>
          <a:lstStyle/>
          <a:p>
            <a:pPr marL="285750" marR="0" lvl="0" indent="-285750" defTabSz="914400">
              <a:lnSpc>
                <a:spcPct val="90000"/>
              </a:lnSpc>
              <a:spcBef>
                <a:spcPts val="0"/>
              </a:spcBef>
              <a:spcAft>
                <a:spcPts val="600"/>
              </a:spcAft>
              <a:buClr>
                <a:srgbClr val="000000"/>
              </a:buClr>
              <a:buSzPts val="1400"/>
              <a:buFont typeface="Wingdings" pitchFamily="2" charset="2"/>
              <a:buChar char="§"/>
            </a:pPr>
            <a:r>
              <a:rPr lang="en-US" sz="1400" b="0" i="0" u="none" strike="noStrike" cap="none" dirty="0">
                <a:sym typeface="Arial"/>
              </a:rPr>
              <a:t>In Mexico, assignment to a health system depends mainly on employment status and ability to pay. Formal workers and their families benefit from the Social Security System, mainly through the IMSS or ISSSTE.</a:t>
            </a:r>
            <a:endParaRPr lang="en-US" sz="1400" dirty="0"/>
          </a:p>
          <a:p>
            <a:pPr marL="285750" marR="0" lvl="0" indent="-285750" defTabSz="914400">
              <a:lnSpc>
                <a:spcPct val="90000"/>
              </a:lnSpc>
              <a:spcBef>
                <a:spcPts val="0"/>
              </a:spcBef>
              <a:spcAft>
                <a:spcPts val="600"/>
              </a:spcAft>
              <a:buClr>
                <a:srgbClr val="000000"/>
              </a:buClr>
              <a:buSzPts val="1400"/>
              <a:buFont typeface="Wingdings" pitchFamily="2" charset="2"/>
              <a:buChar char="§"/>
            </a:pPr>
            <a:endParaRPr lang="en-US" sz="1400" b="0" i="0" u="none" strike="noStrike" cap="none" dirty="0">
              <a:sym typeface="Arial"/>
            </a:endParaRPr>
          </a:p>
          <a:p>
            <a:pPr marL="285750" marR="0" lvl="0" indent="-285750" defTabSz="914400">
              <a:lnSpc>
                <a:spcPct val="90000"/>
              </a:lnSpc>
              <a:spcBef>
                <a:spcPts val="0"/>
              </a:spcBef>
              <a:spcAft>
                <a:spcPts val="600"/>
              </a:spcAft>
              <a:buClr>
                <a:srgbClr val="000000"/>
              </a:buClr>
              <a:buSzPts val="1400"/>
              <a:buFont typeface="Wingdings" pitchFamily="2" charset="2"/>
              <a:buChar char="§"/>
            </a:pPr>
            <a:r>
              <a:rPr lang="en-US" sz="1400" b="0" i="0" u="none" strike="noStrike" cap="none" dirty="0">
                <a:sym typeface="Arial"/>
              </a:rPr>
              <a:t>For example, the ISSSTE serves workers in the State, pensioners, retirees and their entitled family members.</a:t>
            </a:r>
            <a:endParaRPr lang="en-US" sz="1400" dirty="0"/>
          </a:p>
        </p:txBody>
      </p:sp>
      <p:pic>
        <p:nvPicPr>
          <p:cNvPr id="82" name="Google Shape;82;p5" title="division.png"/>
          <p:cNvPicPr preferRelativeResize="0"/>
          <p:nvPr/>
        </p:nvPicPr>
        <p:blipFill rotWithShape="1">
          <a:blip r:embed="rId3"/>
          <a:stretch/>
        </p:blipFill>
        <p:spPr>
          <a:xfrm>
            <a:off x="2982770" y="1133856"/>
            <a:ext cx="5493717" cy="329184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6"/>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Is this different in other countries?</a:t>
            </a:r>
            <a:endParaRPr dirty="0">
              <a:solidFill>
                <a:schemeClr val="accent1"/>
              </a:solidFill>
            </a:endParaRPr>
          </a:p>
        </p:txBody>
      </p:sp>
      <p:sp>
        <p:nvSpPr>
          <p:cNvPr id="89" name="Google Shape;89;p6"/>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285750" indent="-285750">
              <a:buFont typeface="Wingdings" pitchFamily="2" charset="2"/>
              <a:buChar char="§"/>
            </a:pPr>
            <a:r>
              <a:rPr lang="es-MX" dirty="0"/>
              <a:t>No, some countries like Peru, Guatemala, Uruguay, among others also have fragmented systems</a:t>
            </a:r>
            <a:br>
              <a:rPr lang="es-MX" dirty="0"/>
            </a:br>
            <a:r>
              <a:rPr lang="es-MX" u="sng" dirty="0">
                <a:solidFill>
                  <a:schemeClr val="hlink"/>
                </a:solidFill>
                <a:hlinkClick r:id="rId3"/>
              </a:rPr>
              <a:t>https://www.sciencearena.org/en/news/fragmentation-and-inequalities-in-latin-american-healthcare-systems/</a:t>
            </a:r>
            <a:r>
              <a:rPr lang="es-MX" dirty="0"/>
              <a:t> </a:t>
            </a:r>
            <a:endParaRPr dirty="0"/>
          </a:p>
          <a:p>
            <a:pPr marL="285750" indent="-285750">
              <a:spcBef>
                <a:spcPts val="1200"/>
              </a:spcBef>
              <a:buFont typeface="Wingdings" pitchFamily="2" charset="2"/>
              <a:buChar char="§"/>
            </a:pPr>
            <a:r>
              <a:rPr lang="es-MX" dirty="0"/>
              <a:t>However, other similar countries have a unified system, such as Brazil </a:t>
            </a:r>
            <a:r>
              <a:rPr lang="es-MX" u="sng" dirty="0">
                <a:solidFill>
                  <a:schemeClr val="hlink"/>
                </a:solidFill>
                <a:hlinkClick r:id="rId4"/>
              </a:rPr>
              <a:t>https://www.commonwealthfund.org/international-health-policy-center/countries/brazil</a:t>
            </a:r>
            <a:endParaRPr lang="es-MX" u="sng" dirty="0">
              <a:solidFill>
                <a:schemeClr val="hlink"/>
              </a:solidFill>
            </a:endParaRPr>
          </a:p>
          <a:p>
            <a:pPr marL="0" indent="0">
              <a:spcBef>
                <a:spcPts val="1200"/>
              </a:spcBef>
              <a:buNone/>
            </a:pPr>
            <a:endParaRPr dirty="0"/>
          </a:p>
          <a:p>
            <a:pPr marL="285750" indent="-285750">
              <a:spcBef>
                <a:spcPts val="1200"/>
              </a:spcBef>
              <a:spcAft>
                <a:spcPts val="1200"/>
              </a:spcAft>
              <a:buFont typeface="Wingdings" pitchFamily="2" charset="2"/>
              <a:buChar char="§"/>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7"/>
          <p:cNvSpPr txBox="1">
            <a:spLocks noGrp="1"/>
          </p:cNvSpPr>
          <p:nvPr>
            <p:ph type="title"/>
          </p:nvPr>
        </p:nvSpPr>
        <p:spPr>
          <a:xfrm>
            <a:off x="311700" y="546799"/>
            <a:ext cx="8520600" cy="5727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90000"/>
              </a:lnSpc>
              <a:spcBef>
                <a:spcPts val="0"/>
              </a:spcBef>
              <a:spcAft>
                <a:spcPts val="0"/>
              </a:spcAft>
              <a:buSzPct val="142857"/>
              <a:buNone/>
            </a:pPr>
            <a:r>
              <a:rPr lang="es-MX" sz="2800" dirty="0">
                <a:solidFill>
                  <a:schemeClr val="accent1"/>
                </a:solidFill>
              </a:rPr>
              <a:t>How many people go to each provider? How are resources distributed?</a:t>
            </a:r>
            <a:endParaRPr dirty="0">
              <a:solidFill>
                <a:schemeClr val="accent1"/>
              </a:solidFill>
            </a:endParaRPr>
          </a:p>
        </p:txBody>
      </p:sp>
      <p:pic>
        <p:nvPicPr>
          <p:cNvPr id="95" name="Google Shape;95;p7"/>
          <p:cNvPicPr preferRelativeResize="0"/>
          <p:nvPr/>
        </p:nvPicPr>
        <p:blipFill rotWithShape="1">
          <a:blip r:embed="rId3">
            <a:alphaModFix/>
          </a:blip>
          <a:srcRect l="3332" r="12875" b="2"/>
          <a:stretch/>
        </p:blipFill>
        <p:spPr>
          <a:xfrm>
            <a:off x="73807" y="1401740"/>
            <a:ext cx="4260300" cy="2908992"/>
          </a:xfrm>
          <a:prstGeom prst="rect">
            <a:avLst/>
          </a:prstGeom>
          <a:noFill/>
          <a:ln>
            <a:noFill/>
          </a:ln>
        </p:spPr>
      </p:pic>
      <p:pic>
        <p:nvPicPr>
          <p:cNvPr id="96" name="Google Shape;96;p7"/>
          <p:cNvPicPr preferRelativeResize="0"/>
          <p:nvPr/>
        </p:nvPicPr>
        <p:blipFill rotWithShape="1">
          <a:blip r:embed="rId4">
            <a:alphaModFix/>
          </a:blip>
          <a:srcRect l="23430" t="5706" r="26216" b="1"/>
          <a:stretch/>
        </p:blipFill>
        <p:spPr>
          <a:xfrm>
            <a:off x="4572000" y="1447799"/>
            <a:ext cx="4442460" cy="3078173"/>
          </a:xfrm>
          <a:prstGeom prst="rect">
            <a:avLst/>
          </a:prstGeom>
          <a:noFill/>
          <a:ln>
            <a:noFill/>
          </a:ln>
        </p:spPr>
      </p:pic>
      <p:sp>
        <p:nvSpPr>
          <p:cNvPr id="97" name="Google Shape;97;p7"/>
          <p:cNvSpPr txBox="1"/>
          <p:nvPr/>
        </p:nvSpPr>
        <p:spPr>
          <a:xfrm>
            <a:off x="4572000" y="1309299"/>
            <a:ext cx="464422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200" b="1" i="0" u="none" strike="noStrike" cap="none">
                <a:solidFill>
                  <a:srgbClr val="000000"/>
                </a:solidFill>
                <a:latin typeface="Arial"/>
                <a:ea typeface="Arial"/>
                <a:cs typeface="Arial"/>
                <a:sym typeface="Arial"/>
              </a:rPr>
              <a:t>Expenditure per capita and Healthcare subsystem, MXN 2025</a:t>
            </a:r>
            <a:endParaRPr/>
          </a:p>
        </p:txBody>
      </p:sp>
      <p:sp>
        <p:nvSpPr>
          <p:cNvPr id="98" name="Google Shape;98;p7"/>
          <p:cNvSpPr txBox="1"/>
          <p:nvPr/>
        </p:nvSpPr>
        <p:spPr>
          <a:xfrm>
            <a:off x="4490085" y="4534808"/>
            <a:ext cx="4606290" cy="4154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b="0" i="0" u="sng" strike="noStrike" cap="none" dirty="0">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Source: https://ciep.mx/wp-content/uploads/2024/11/Gasto-para-salud-en-2025.-Recortes-en-hospitales-y-para-la-poblacion-sin-seguridad-social.pdf</a:t>
            </a:r>
            <a:r>
              <a:rPr lang="es-MX" sz="1000" b="0" i="0" u="none" strike="noStrike" cap="none" dirty="0">
                <a:solidFill>
                  <a:srgbClr val="000000"/>
                </a:solidFill>
                <a:latin typeface="Arial"/>
                <a:ea typeface="Arial"/>
                <a:cs typeface="Arial"/>
                <a:sym typeface="Arial"/>
              </a:rPr>
              <a:t> </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8"/>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How are people divided across healthcare providers?</a:t>
            </a:r>
            <a:endParaRPr dirty="0">
              <a:solidFill>
                <a:schemeClr val="accent1"/>
              </a:solidFill>
            </a:endParaRPr>
          </a:p>
        </p:txBody>
      </p:sp>
      <p:pic>
        <p:nvPicPr>
          <p:cNvPr id="104" name="Google Shape;104;p8"/>
          <p:cNvPicPr preferRelativeResize="0"/>
          <p:nvPr/>
        </p:nvPicPr>
        <p:blipFill>
          <a:blip r:embed="rId3">
            <a:alphaModFix/>
          </a:blip>
          <a:stretch>
            <a:fillRect/>
          </a:stretch>
        </p:blipFill>
        <p:spPr>
          <a:xfrm>
            <a:off x="1108400" y="1017725"/>
            <a:ext cx="6812349" cy="39849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9"/>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111"/>
              <a:buNone/>
            </a:pPr>
            <a:r>
              <a:rPr lang="es-MX" dirty="0">
                <a:solidFill>
                  <a:schemeClr val="accent1"/>
                </a:solidFill>
              </a:rPr>
              <a:t>How are public vs private doctors paid usually?</a:t>
            </a:r>
            <a:endParaRPr dirty="0">
              <a:solidFill>
                <a:schemeClr val="accent1"/>
              </a:solidFill>
            </a:endParaRPr>
          </a:p>
        </p:txBody>
      </p:sp>
      <p:sp>
        <p:nvSpPr>
          <p:cNvPr id="110" name="Google Shape;110;p9"/>
          <p:cNvSpPr txBox="1">
            <a:spLocks noGrp="1"/>
          </p:cNvSpPr>
          <p:nvPr>
            <p:ph type="body" idx="1"/>
          </p:nvPr>
        </p:nvSpPr>
        <p:spPr>
          <a:xfrm>
            <a:off x="201142" y="1017725"/>
            <a:ext cx="4245023"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r>
              <a:rPr lang="es-MX" b="1" dirty="0">
                <a:solidFill>
                  <a:schemeClr val="dk1"/>
                </a:solidFill>
              </a:rPr>
              <a:t>Public</a:t>
            </a:r>
            <a:endParaRPr dirty="0"/>
          </a:p>
          <a:p>
            <a:pPr marL="114300" lvl="0" indent="0" algn="l" rtl="0">
              <a:lnSpc>
                <a:spcPct val="115000"/>
              </a:lnSpc>
              <a:spcBef>
                <a:spcPts val="0"/>
              </a:spcBef>
              <a:spcAft>
                <a:spcPts val="0"/>
              </a:spcAft>
              <a:buSzPts val="1800"/>
              <a:buNone/>
            </a:pPr>
            <a:r>
              <a:rPr lang="es-MX" dirty="0">
                <a:solidFill>
                  <a:schemeClr val="dk1"/>
                </a:solidFill>
              </a:rPr>
              <a:t>Fixed salaries</a:t>
            </a:r>
            <a:r>
              <a:rPr lang="es-MX" dirty="0"/>
              <a:t> </a:t>
            </a:r>
            <a:r>
              <a:rPr lang="es-MX" dirty="0">
                <a:solidFill>
                  <a:schemeClr val="dk1"/>
                </a:solidFill>
              </a:rPr>
              <a:t>+ Benefits:</a:t>
            </a:r>
            <a:endParaRPr dirty="0"/>
          </a:p>
          <a:p>
            <a:pPr lvl="0" algn="l" rtl="0">
              <a:lnSpc>
                <a:spcPct val="115000"/>
              </a:lnSpc>
              <a:spcBef>
                <a:spcPts val="0"/>
              </a:spcBef>
              <a:spcAft>
                <a:spcPts val="0"/>
              </a:spcAft>
              <a:buSzPts val="1800"/>
              <a:buFont typeface="Wingdings" pitchFamily="2" charset="2"/>
              <a:buChar char="§"/>
            </a:pPr>
            <a:r>
              <a:rPr lang="es-MX" dirty="0">
                <a:solidFill>
                  <a:schemeClr val="dk1"/>
                </a:solidFill>
              </a:rPr>
              <a:t>Paid vacations</a:t>
            </a:r>
            <a:endParaRPr dirty="0">
              <a:solidFill>
                <a:schemeClr val="dk1"/>
              </a:solidFill>
            </a:endParaRPr>
          </a:p>
          <a:p>
            <a:pPr lvl="0" algn="l" rtl="0">
              <a:lnSpc>
                <a:spcPct val="115000"/>
              </a:lnSpc>
              <a:spcBef>
                <a:spcPts val="0"/>
              </a:spcBef>
              <a:spcAft>
                <a:spcPts val="0"/>
              </a:spcAft>
              <a:buSzPts val="1800"/>
              <a:buFont typeface="Wingdings" pitchFamily="2" charset="2"/>
              <a:buChar char="§"/>
            </a:pPr>
            <a:r>
              <a:rPr lang="es-MX" dirty="0">
                <a:solidFill>
                  <a:schemeClr val="dk1"/>
                </a:solidFill>
              </a:rPr>
              <a:t>Health insurance</a:t>
            </a:r>
            <a:endParaRPr dirty="0"/>
          </a:p>
          <a:p>
            <a:pPr lvl="0" algn="l" rtl="0">
              <a:lnSpc>
                <a:spcPct val="115000"/>
              </a:lnSpc>
              <a:spcBef>
                <a:spcPts val="0"/>
              </a:spcBef>
              <a:spcAft>
                <a:spcPts val="0"/>
              </a:spcAft>
              <a:buSzPts val="1800"/>
              <a:buFont typeface="Wingdings" pitchFamily="2" charset="2"/>
              <a:buChar char="§"/>
            </a:pPr>
            <a:r>
              <a:rPr lang="es-MX" dirty="0">
                <a:solidFill>
                  <a:schemeClr val="dk1"/>
                </a:solidFill>
              </a:rPr>
              <a:t>Less common (productivity bonus –per patient bonus-)</a:t>
            </a:r>
            <a:endParaRPr dirty="0"/>
          </a:p>
          <a:p>
            <a:pPr marL="114300" lvl="0" indent="0" algn="l" rtl="0">
              <a:lnSpc>
                <a:spcPct val="115000"/>
              </a:lnSpc>
              <a:spcBef>
                <a:spcPts val="0"/>
              </a:spcBef>
              <a:spcAft>
                <a:spcPts val="0"/>
              </a:spcAft>
              <a:buSzPts val="1800"/>
              <a:buNone/>
            </a:pPr>
            <a:endParaRPr dirty="0">
              <a:solidFill>
                <a:schemeClr val="dk1"/>
              </a:solidFill>
            </a:endParaRPr>
          </a:p>
          <a:p>
            <a:pPr marL="114300" lvl="0" indent="0" algn="l" rtl="0">
              <a:lnSpc>
                <a:spcPct val="115000"/>
              </a:lnSpc>
              <a:spcBef>
                <a:spcPts val="0"/>
              </a:spcBef>
              <a:spcAft>
                <a:spcPts val="0"/>
              </a:spcAft>
              <a:buSzPts val="1800"/>
              <a:buNone/>
            </a:pPr>
            <a:r>
              <a:rPr lang="es-MX" u="sng" dirty="0">
                <a:solidFill>
                  <a:schemeClr val="dk1"/>
                </a:solidFill>
              </a:rPr>
              <a:t>Primary incentive:  Worked hours</a:t>
            </a:r>
            <a:endParaRPr dirty="0"/>
          </a:p>
        </p:txBody>
      </p:sp>
      <p:sp>
        <p:nvSpPr>
          <p:cNvPr id="111" name="Google Shape;111;p9"/>
          <p:cNvSpPr txBox="1"/>
          <p:nvPr/>
        </p:nvSpPr>
        <p:spPr>
          <a:xfrm>
            <a:off x="311700" y="4760644"/>
            <a:ext cx="8183906"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000" b="0" i="0" u="sng" strike="noStrike" cap="none" dirty="0">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Sources: http://www.scielo.org.mx/scielo.php?script=sci_arttext&amp;pid=S0036-36342011000800017</a:t>
            </a:r>
            <a:r>
              <a:rPr lang="es-MX" sz="1000" b="0" i="0" u="none" strike="noStrike" cap="none" dirty="0">
                <a:solidFill>
                  <a:srgbClr val="000000"/>
                </a:solidFill>
                <a:latin typeface="Arial"/>
                <a:ea typeface="Arial"/>
                <a:cs typeface="Arial"/>
                <a:sym typeface="Arial"/>
              </a:rPr>
              <a:t> </a:t>
            </a:r>
            <a:endParaRPr sz="1000" dirty="0"/>
          </a:p>
        </p:txBody>
      </p:sp>
      <p:sp>
        <p:nvSpPr>
          <p:cNvPr id="112" name="Google Shape;112;p9"/>
          <p:cNvSpPr txBox="1"/>
          <p:nvPr/>
        </p:nvSpPr>
        <p:spPr>
          <a:xfrm>
            <a:off x="4836185" y="1017725"/>
            <a:ext cx="3606095" cy="3416400"/>
          </a:xfrm>
          <a:prstGeom prst="rect">
            <a:avLst/>
          </a:prstGeom>
          <a:noFill/>
          <a:ln>
            <a:noFill/>
          </a:ln>
        </p:spPr>
        <p:txBody>
          <a:bodyPr spcFirstLastPara="1" wrap="square" lIns="91425" tIns="91425" rIns="91425" bIns="91425" anchor="t" anchorCtr="0">
            <a:normAutofit/>
          </a:bodyPr>
          <a:lstStyle/>
          <a:p>
            <a:pPr marL="114300" marR="0" lvl="0" algn="l" rtl="0">
              <a:lnSpc>
                <a:spcPct val="115000"/>
              </a:lnSpc>
              <a:spcBef>
                <a:spcPts val="0"/>
              </a:spcBef>
              <a:spcAft>
                <a:spcPts val="0"/>
              </a:spcAft>
              <a:buClr>
                <a:schemeClr val="dk2"/>
              </a:buClr>
              <a:buSzPts val="1800"/>
            </a:pPr>
            <a:r>
              <a:rPr lang="es-MX" sz="1350" b="1" i="0" u="none" strike="noStrike" cap="none" dirty="0">
                <a:solidFill>
                  <a:schemeClr val="dk1"/>
                </a:solidFill>
                <a:ea typeface="Arial"/>
                <a:cs typeface="Arial"/>
                <a:sym typeface="Arial"/>
              </a:rPr>
              <a:t>Private</a:t>
            </a:r>
            <a:endParaRPr sz="1350" b="1" i="0" u="none" strike="noStrike" cap="none" dirty="0">
              <a:solidFill>
                <a:schemeClr val="dk1"/>
              </a:solidFill>
              <a:ea typeface="Arial"/>
              <a:cs typeface="Arial"/>
              <a:sym typeface="Arial"/>
            </a:endParaRPr>
          </a:p>
          <a:p>
            <a:pPr marL="114300" marR="0" lvl="0" algn="l" rtl="0">
              <a:lnSpc>
                <a:spcPct val="115000"/>
              </a:lnSpc>
              <a:spcBef>
                <a:spcPts val="0"/>
              </a:spcBef>
              <a:spcAft>
                <a:spcPts val="0"/>
              </a:spcAft>
              <a:buClr>
                <a:schemeClr val="dk2"/>
              </a:buClr>
              <a:buSzPts val="1800"/>
            </a:pPr>
            <a:r>
              <a:rPr lang="es-MX" sz="1350" b="0" i="0" u="none" strike="noStrike" cap="none" dirty="0">
                <a:solidFill>
                  <a:schemeClr val="dk1"/>
                </a:solidFill>
                <a:ea typeface="Arial"/>
                <a:cs typeface="Arial"/>
                <a:sym typeface="Arial"/>
              </a:rPr>
              <a:t>Fee-for-service</a:t>
            </a:r>
            <a:r>
              <a:rPr lang="es-MX" sz="1350" dirty="0">
                <a:sym typeface="Arial"/>
              </a:rPr>
              <a:t> </a:t>
            </a:r>
            <a:r>
              <a:rPr lang="es-MX" sz="1350" b="0" i="0" u="none" strike="noStrike" cap="none" dirty="0">
                <a:solidFill>
                  <a:schemeClr val="dk1"/>
                </a:solidFill>
                <a:ea typeface="Arial"/>
                <a:cs typeface="Arial"/>
                <a:sym typeface="Arial"/>
              </a:rPr>
              <a:t>+ Benefits:</a:t>
            </a:r>
            <a:endParaRPr sz="1350" dirty="0"/>
          </a:p>
          <a:p>
            <a:pPr marL="457200" marR="0" lvl="0" indent="-342900" algn="l" rtl="0">
              <a:lnSpc>
                <a:spcPct val="115000"/>
              </a:lnSpc>
              <a:spcBef>
                <a:spcPts val="0"/>
              </a:spcBef>
              <a:spcAft>
                <a:spcPts val="0"/>
              </a:spcAft>
              <a:buClr>
                <a:schemeClr val="accent1"/>
              </a:buClr>
              <a:buSzPts val="1800"/>
              <a:buFont typeface="Wingdings" pitchFamily="2" charset="2"/>
              <a:buChar char="§"/>
            </a:pPr>
            <a:r>
              <a:rPr lang="es-MX" sz="1350" b="0" i="0" u="none" strike="noStrike" cap="none" dirty="0">
                <a:solidFill>
                  <a:schemeClr val="dk1"/>
                </a:solidFill>
                <a:ea typeface="Arial"/>
                <a:cs typeface="Arial"/>
                <a:sym typeface="Arial"/>
              </a:rPr>
              <a:t>Productivity bonuses (number of patients goal)</a:t>
            </a:r>
            <a:endParaRPr sz="1350" b="0" i="0" u="none" strike="noStrike" cap="none" dirty="0">
              <a:solidFill>
                <a:schemeClr val="dk1"/>
              </a:solidFill>
              <a:ea typeface="Arial"/>
              <a:cs typeface="Arial"/>
              <a:sym typeface="Arial"/>
            </a:endParaRPr>
          </a:p>
          <a:p>
            <a:pPr marL="400050" marR="0" lvl="0" indent="-285750" algn="l" rtl="0">
              <a:lnSpc>
                <a:spcPct val="115000"/>
              </a:lnSpc>
              <a:spcBef>
                <a:spcPts val="0"/>
              </a:spcBef>
              <a:spcAft>
                <a:spcPts val="0"/>
              </a:spcAft>
              <a:buClr>
                <a:schemeClr val="dk2"/>
              </a:buClr>
              <a:buSzPts val="1800"/>
              <a:buFont typeface="Wingdings" pitchFamily="2" charset="2"/>
              <a:buChar char="§"/>
            </a:pPr>
            <a:endParaRPr sz="1350" b="0" i="0" u="none" strike="noStrike" cap="none" dirty="0">
              <a:solidFill>
                <a:schemeClr val="dk1"/>
              </a:solidFill>
              <a:ea typeface="Arial"/>
              <a:cs typeface="Arial"/>
              <a:sym typeface="Arial"/>
            </a:endParaRPr>
          </a:p>
          <a:p>
            <a:pPr marL="114300" marR="0" lvl="0" algn="l" rtl="0">
              <a:lnSpc>
                <a:spcPct val="115000"/>
              </a:lnSpc>
              <a:spcBef>
                <a:spcPts val="0"/>
              </a:spcBef>
              <a:spcAft>
                <a:spcPts val="0"/>
              </a:spcAft>
              <a:buClr>
                <a:schemeClr val="dk2"/>
              </a:buClr>
              <a:buSzPts val="1800"/>
            </a:pPr>
            <a:endParaRPr lang="es-MX" sz="1350" b="0" i="0" u="sng" strike="noStrike" cap="none" dirty="0">
              <a:solidFill>
                <a:schemeClr val="dk1"/>
              </a:solidFill>
              <a:ea typeface="Arial"/>
              <a:cs typeface="Arial"/>
              <a:sym typeface="Arial"/>
            </a:endParaRPr>
          </a:p>
          <a:p>
            <a:pPr marL="114300" marR="0" lvl="0" algn="l" rtl="0">
              <a:lnSpc>
                <a:spcPct val="115000"/>
              </a:lnSpc>
              <a:spcBef>
                <a:spcPts val="0"/>
              </a:spcBef>
              <a:spcAft>
                <a:spcPts val="0"/>
              </a:spcAft>
              <a:buClr>
                <a:schemeClr val="dk2"/>
              </a:buClr>
              <a:buSzPts val="1800"/>
            </a:pPr>
            <a:endParaRPr lang="es-MX" sz="1350" u="sng" dirty="0">
              <a:solidFill>
                <a:schemeClr val="dk1"/>
              </a:solidFill>
              <a:ea typeface="Arial"/>
              <a:cs typeface="Arial"/>
              <a:sym typeface="Arial"/>
            </a:endParaRPr>
          </a:p>
          <a:p>
            <a:pPr marL="114300" marR="0" lvl="0" algn="l" rtl="0">
              <a:lnSpc>
                <a:spcPct val="115000"/>
              </a:lnSpc>
              <a:spcBef>
                <a:spcPts val="0"/>
              </a:spcBef>
              <a:spcAft>
                <a:spcPts val="0"/>
              </a:spcAft>
              <a:buClr>
                <a:schemeClr val="dk2"/>
              </a:buClr>
              <a:buSzPts val="1800"/>
            </a:pPr>
            <a:r>
              <a:rPr lang="es-MX" sz="1350" b="0" i="0" u="sng" strike="noStrike" cap="none" dirty="0">
                <a:solidFill>
                  <a:schemeClr val="dk1"/>
                </a:solidFill>
                <a:ea typeface="Arial"/>
                <a:cs typeface="Arial"/>
                <a:sym typeface="Arial"/>
              </a:rPr>
              <a:t>Primary incentive: Reputation</a:t>
            </a:r>
            <a:endParaRPr sz="1350" b="0" i="0" u="sng" strike="noStrike" cap="none" dirty="0">
              <a:solidFill>
                <a:schemeClr val="dk1"/>
              </a:solidFill>
              <a:ea typeface="Arial"/>
              <a:cs typeface="Arial"/>
              <a:sym typeface="Arial"/>
            </a:endParaRPr>
          </a:p>
        </p:txBody>
      </p:sp>
      <p:sp>
        <p:nvSpPr>
          <p:cNvPr id="113" name="Google Shape;113;p9"/>
          <p:cNvSpPr txBox="1"/>
          <p:nvPr/>
        </p:nvSpPr>
        <p:spPr>
          <a:xfrm>
            <a:off x="311700" y="3612765"/>
            <a:ext cx="766267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400" b="0" i="0" u="none" strike="noStrike" cap="none" dirty="0">
                <a:solidFill>
                  <a:srgbClr val="000000"/>
                </a:solidFill>
                <a:ea typeface="Arial"/>
                <a:cs typeface="Arial"/>
                <a:sym typeface="Arial"/>
              </a:rPr>
              <a:t>Hence, our hypotheses point more towards an </a:t>
            </a:r>
            <a:r>
              <a:rPr lang="es-MX" sz="1400" b="1" i="1" u="none" strike="noStrike" cap="none" dirty="0">
                <a:solidFill>
                  <a:srgbClr val="000000"/>
                </a:solidFill>
                <a:ea typeface="Arial"/>
                <a:cs typeface="Arial"/>
                <a:sym typeface="Arial"/>
              </a:rPr>
              <a:t>undertreatment </a:t>
            </a:r>
            <a:r>
              <a:rPr lang="es-MX" sz="1400" b="0" i="0" u="none" strike="noStrike" cap="none" dirty="0">
                <a:solidFill>
                  <a:srgbClr val="000000"/>
                </a:solidFill>
                <a:ea typeface="Arial"/>
                <a:cs typeface="Arial"/>
                <a:sym typeface="Arial"/>
              </a:rPr>
              <a:t>problem in public health system.</a:t>
            </a:r>
            <a:endParaRPr dirty="0"/>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0"/>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111"/>
              <a:buNone/>
            </a:pPr>
            <a:r>
              <a:rPr lang="es-MX">
                <a:solidFill>
                  <a:schemeClr val="accent1"/>
                </a:solidFill>
              </a:rPr>
              <a:t>Measuring the problem: Quality measures</a:t>
            </a:r>
            <a:endParaRPr>
              <a:solidFill>
                <a:schemeClr val="accent1"/>
              </a:solidFill>
            </a:endParaRPr>
          </a:p>
        </p:txBody>
      </p:sp>
      <p:sp>
        <p:nvSpPr>
          <p:cNvPr id="119" name="Google Shape;119;p10"/>
          <p:cNvSpPr txBox="1">
            <a:spLocks noGrp="1"/>
          </p:cNvSpPr>
          <p:nvPr>
            <p:ph type="body" idx="1"/>
          </p:nvPr>
        </p:nvSpPr>
        <p:spPr>
          <a:xfrm>
            <a:off x="311700" y="940900"/>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800"/>
              <a:buNone/>
            </a:pPr>
            <a:r>
              <a:rPr lang="es-MX" sz="1200" dirty="0">
                <a:solidFill>
                  <a:schemeClr val="dk1"/>
                </a:solidFill>
              </a:rPr>
              <a:t>Healthcare quality differs greatly across public providers. We created a simple index with different dimensions to measure quality.  </a:t>
            </a:r>
            <a:endParaRPr dirty="0"/>
          </a:p>
          <a:p>
            <a:pPr marL="0" lvl="0" indent="0" algn="l" rtl="0">
              <a:lnSpc>
                <a:spcPct val="100000"/>
              </a:lnSpc>
              <a:spcBef>
                <a:spcPts val="0"/>
              </a:spcBef>
              <a:spcAft>
                <a:spcPts val="0"/>
              </a:spcAft>
              <a:buSzPts val="1800"/>
              <a:buNone/>
            </a:pPr>
            <a:endParaRPr sz="1200" dirty="0">
              <a:solidFill>
                <a:schemeClr val="dk1"/>
              </a:solidFill>
            </a:endParaRPr>
          </a:p>
          <a:p>
            <a:pPr marL="0" lvl="0" indent="0" algn="l" rtl="0">
              <a:lnSpc>
                <a:spcPct val="100000"/>
              </a:lnSpc>
              <a:spcBef>
                <a:spcPts val="0"/>
              </a:spcBef>
              <a:spcAft>
                <a:spcPts val="0"/>
              </a:spcAft>
              <a:buSzPts val="1800"/>
              <a:buNone/>
            </a:pPr>
            <a:r>
              <a:rPr lang="es-MX" sz="1200" dirty="0">
                <a:solidFill>
                  <a:schemeClr val="dk1"/>
                </a:solidFill>
              </a:rPr>
              <a:t>Apparently, all of them are similar in quality.</a:t>
            </a:r>
            <a:endParaRPr sz="1200" dirty="0">
              <a:solidFill>
                <a:schemeClr val="dk1"/>
              </a:solidFill>
            </a:endParaRPr>
          </a:p>
          <a:p>
            <a:pPr marL="0" lvl="0" indent="0" algn="l" rtl="0">
              <a:lnSpc>
                <a:spcPct val="100000"/>
              </a:lnSpc>
              <a:spcBef>
                <a:spcPts val="0"/>
              </a:spcBef>
              <a:spcAft>
                <a:spcPts val="0"/>
              </a:spcAft>
              <a:buSzPts val="1800"/>
              <a:buNone/>
            </a:pPr>
            <a:endParaRPr sz="1200" dirty="0">
              <a:solidFill>
                <a:schemeClr val="dk1"/>
              </a:solidFill>
            </a:endParaRPr>
          </a:p>
          <a:p>
            <a:pPr marL="0" lvl="0" indent="0" algn="l" rtl="0">
              <a:lnSpc>
                <a:spcPct val="100000"/>
              </a:lnSpc>
              <a:spcBef>
                <a:spcPts val="0"/>
              </a:spcBef>
              <a:spcAft>
                <a:spcPts val="0"/>
              </a:spcAft>
              <a:buSzPts val="1800"/>
              <a:buNone/>
            </a:pPr>
            <a:endParaRPr sz="1200" dirty="0">
              <a:solidFill>
                <a:schemeClr val="dk1"/>
              </a:solidFill>
            </a:endParaRPr>
          </a:p>
          <a:p>
            <a:pPr marL="0" lvl="0" indent="0" algn="l" rtl="0">
              <a:lnSpc>
                <a:spcPct val="100000"/>
              </a:lnSpc>
              <a:spcBef>
                <a:spcPts val="0"/>
              </a:spcBef>
              <a:spcAft>
                <a:spcPts val="0"/>
              </a:spcAft>
              <a:buSzPts val="1800"/>
              <a:buNone/>
            </a:pPr>
            <a:endParaRPr sz="1200" dirty="0">
              <a:solidFill>
                <a:schemeClr val="dk1"/>
              </a:solidFill>
            </a:endParaRPr>
          </a:p>
          <a:p>
            <a:pPr marL="0" lvl="0" indent="0" algn="l" rtl="0">
              <a:lnSpc>
                <a:spcPct val="100000"/>
              </a:lnSpc>
              <a:spcBef>
                <a:spcPts val="0"/>
              </a:spcBef>
              <a:spcAft>
                <a:spcPts val="0"/>
              </a:spcAft>
              <a:buSzPts val="1800"/>
              <a:buNone/>
            </a:pPr>
            <a:endParaRPr sz="1200" dirty="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dirty="0">
              <a:solidFill>
                <a:schemeClr val="dk1"/>
              </a:solidFill>
            </a:endParaRPr>
          </a:p>
        </p:txBody>
      </p:sp>
      <p:pic>
        <p:nvPicPr>
          <p:cNvPr id="120" name="Google Shape;120;p10"/>
          <p:cNvPicPr preferRelativeResize="0"/>
          <p:nvPr/>
        </p:nvPicPr>
        <p:blipFill rotWithShape="1">
          <a:blip r:embed="rId3">
            <a:alphaModFix/>
          </a:blip>
          <a:srcRect/>
          <a:stretch/>
        </p:blipFill>
        <p:spPr>
          <a:xfrm>
            <a:off x="311700" y="1861392"/>
            <a:ext cx="4012287" cy="2699175"/>
          </a:xfrm>
          <a:prstGeom prst="rect">
            <a:avLst/>
          </a:prstGeom>
          <a:noFill/>
          <a:ln>
            <a:noFill/>
          </a:ln>
        </p:spPr>
      </p:pic>
      <p:pic>
        <p:nvPicPr>
          <p:cNvPr id="121" name="Google Shape;121;p10"/>
          <p:cNvPicPr preferRelativeResize="0"/>
          <p:nvPr/>
        </p:nvPicPr>
        <p:blipFill rotWithShape="1">
          <a:blip r:embed="rId4">
            <a:alphaModFix/>
          </a:blip>
          <a:srcRect/>
          <a:stretch/>
        </p:blipFill>
        <p:spPr>
          <a:xfrm>
            <a:off x="4323987" y="1889297"/>
            <a:ext cx="4618533" cy="30842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11"/>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111"/>
              <a:buNone/>
            </a:pPr>
            <a:r>
              <a:rPr lang="es-MX" dirty="0">
                <a:solidFill>
                  <a:schemeClr val="accent1"/>
                </a:solidFill>
              </a:rPr>
              <a:t>Measuring the problem: Quality measures</a:t>
            </a:r>
            <a:endParaRPr dirty="0">
              <a:solidFill>
                <a:schemeClr val="accent1"/>
              </a:solidFill>
            </a:endParaRPr>
          </a:p>
        </p:txBody>
      </p:sp>
      <p:sp>
        <p:nvSpPr>
          <p:cNvPr id="126" name="Google Shape;126;p11"/>
          <p:cNvSpPr txBox="1">
            <a:spLocks noGrp="1"/>
          </p:cNvSpPr>
          <p:nvPr>
            <p:ph type="body" idx="1"/>
          </p:nvPr>
        </p:nvSpPr>
        <p:spPr>
          <a:xfrm>
            <a:off x="311700" y="841176"/>
            <a:ext cx="8520600" cy="102573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ct val="150000"/>
              <a:buNone/>
            </a:pPr>
            <a:r>
              <a:rPr lang="es-MX" sz="1200" dirty="0">
                <a:solidFill>
                  <a:schemeClr val="tx1"/>
                </a:solidFill>
              </a:rPr>
              <a:t>But one of the crucial measures of quality shows differences in return propensity. When asked why they would or wouldn’t return, these were the answers.  Among the “No” options, the 3 most important are that 1) they didn’t improve, 2) they waited for long time before getting care, and 3) they were treated badly. For “Yes”, they cited good care, they were treated well, and – importantly - they do not have other options.</a:t>
            </a:r>
            <a:endParaRPr dirty="0">
              <a:solidFill>
                <a:schemeClr val="tx1"/>
              </a:solidFill>
            </a:endParaRPr>
          </a:p>
        </p:txBody>
      </p:sp>
      <p:pic>
        <p:nvPicPr>
          <p:cNvPr id="128" name="Google Shape;128;p11"/>
          <p:cNvPicPr preferRelativeResize="0"/>
          <p:nvPr/>
        </p:nvPicPr>
        <p:blipFill rotWithShape="1">
          <a:blip r:embed="rId3">
            <a:alphaModFix/>
          </a:blip>
          <a:srcRect/>
          <a:stretch/>
        </p:blipFill>
        <p:spPr>
          <a:xfrm>
            <a:off x="258647" y="2002350"/>
            <a:ext cx="4313353" cy="2880443"/>
          </a:xfrm>
          <a:prstGeom prst="rect">
            <a:avLst/>
          </a:prstGeom>
          <a:noFill/>
          <a:ln>
            <a:noFill/>
          </a:ln>
        </p:spPr>
      </p:pic>
      <p:pic>
        <p:nvPicPr>
          <p:cNvPr id="129" name="Google Shape;129;p11"/>
          <p:cNvPicPr preferRelativeResize="0"/>
          <p:nvPr/>
        </p:nvPicPr>
        <p:blipFill rotWithShape="1">
          <a:blip r:embed="rId4">
            <a:alphaModFix/>
          </a:blip>
          <a:srcRect/>
          <a:stretch/>
        </p:blipFill>
        <p:spPr>
          <a:xfrm>
            <a:off x="4681325" y="1926468"/>
            <a:ext cx="4150975" cy="277200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2"/>
          <p:cNvSpPr txBox="1">
            <a:spLocks noGrp="1"/>
          </p:cNvSpPr>
          <p:nvPr>
            <p:ph type="title"/>
          </p:nvPr>
        </p:nvSpPr>
        <p:spPr>
          <a:xfrm>
            <a:off x="311700" y="350216"/>
            <a:ext cx="8520600" cy="9303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The problem: Healthcare quality differs across public providers</a:t>
            </a:r>
            <a:endParaRPr dirty="0">
              <a:solidFill>
                <a:schemeClr val="accent1"/>
              </a:solidFill>
            </a:endParaRPr>
          </a:p>
        </p:txBody>
      </p:sp>
      <p:sp>
        <p:nvSpPr>
          <p:cNvPr id="135" name="Google Shape;135;p12"/>
          <p:cNvSpPr txBox="1">
            <a:spLocks noGrp="1"/>
          </p:cNvSpPr>
          <p:nvPr>
            <p:ph type="body" idx="1"/>
          </p:nvPr>
        </p:nvSpPr>
        <p:spPr>
          <a:xfrm>
            <a:off x="311700" y="1198195"/>
            <a:ext cx="8520600" cy="3770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Aft>
                <a:spcPts val="0"/>
              </a:spcAft>
              <a:buClr>
                <a:schemeClr val="dk1"/>
              </a:buClr>
              <a:buSzPts val="688"/>
              <a:buNone/>
            </a:pPr>
            <a:r>
              <a:rPr lang="es-MX" sz="1200" dirty="0">
                <a:solidFill>
                  <a:schemeClr val="dk1"/>
                </a:solidFill>
              </a:rPr>
              <a:t>The main issue in the healthcare system stems from its high degree of fragmentation. This fragmentation leads to misaligned incentives and various market failures, including:</a:t>
            </a:r>
          </a:p>
          <a:p>
            <a:pPr marL="0" lvl="0" indent="0" algn="l" rtl="0">
              <a:lnSpc>
                <a:spcPct val="100000"/>
              </a:lnSpc>
              <a:spcAft>
                <a:spcPts val="0"/>
              </a:spcAft>
              <a:buClr>
                <a:schemeClr val="dk1"/>
              </a:buClr>
              <a:buSzPts val="688"/>
              <a:buNone/>
            </a:pPr>
            <a:endParaRPr lang="es-MX" sz="1200" dirty="0">
              <a:solidFill>
                <a:schemeClr val="dk1"/>
              </a:solidFill>
            </a:endParaRPr>
          </a:p>
          <a:p>
            <a:pPr marL="171450" lvl="0" indent="-171450" algn="l" rtl="0">
              <a:lnSpc>
                <a:spcPct val="100000"/>
              </a:lnSpc>
              <a:spcAft>
                <a:spcPts val="0"/>
              </a:spcAft>
              <a:buClr>
                <a:schemeClr val="dk1"/>
              </a:buClr>
              <a:buSzPts val="688"/>
              <a:buFont typeface="Wingdings" pitchFamily="2" charset="2"/>
              <a:buChar char="§"/>
            </a:pPr>
            <a:r>
              <a:rPr lang="es-MX" sz="1200" b="1" dirty="0">
                <a:solidFill>
                  <a:schemeClr val="dk1"/>
                </a:solidFill>
              </a:rPr>
              <a:t>Disparities in the public allocation of resources, which contribute to:</a:t>
            </a:r>
          </a:p>
          <a:p>
            <a:pPr marL="628650" lvl="1" indent="-171450">
              <a:lnSpc>
                <a:spcPct val="100000"/>
              </a:lnSpc>
              <a:buClr>
                <a:schemeClr val="dk1"/>
              </a:buClr>
              <a:buSzPts val="688"/>
              <a:buFont typeface="Wingdings" pitchFamily="2" charset="2"/>
              <a:buChar char="§"/>
            </a:pPr>
            <a:r>
              <a:rPr lang="es-MX" dirty="0">
                <a:solidFill>
                  <a:schemeClr val="dk1"/>
                </a:solidFill>
              </a:rPr>
              <a:t>Declining healthcare quality</a:t>
            </a:r>
          </a:p>
          <a:p>
            <a:pPr marL="628650" lvl="1" indent="-171450">
              <a:lnSpc>
                <a:spcPct val="100000"/>
              </a:lnSpc>
              <a:buClr>
                <a:schemeClr val="dk1"/>
              </a:buClr>
              <a:buSzPts val="688"/>
              <a:buFont typeface="Wingdings" pitchFamily="2" charset="2"/>
              <a:buChar char="§"/>
            </a:pPr>
            <a:r>
              <a:rPr lang="es-MX" dirty="0">
                <a:solidFill>
                  <a:schemeClr val="dk1"/>
                </a:solidFill>
              </a:rPr>
              <a:t>Unequal access to care</a:t>
            </a:r>
          </a:p>
          <a:p>
            <a:pPr marL="628650" lvl="1" indent="-171450">
              <a:lnSpc>
                <a:spcPct val="100000"/>
              </a:lnSpc>
              <a:buClr>
                <a:schemeClr val="dk1"/>
              </a:buClr>
              <a:buSzPts val="688"/>
              <a:buFont typeface="Wingdings" pitchFamily="2" charset="2"/>
              <a:buChar char="§"/>
            </a:pPr>
            <a:r>
              <a:rPr lang="es-MX" dirty="0">
                <a:solidFill>
                  <a:schemeClr val="dk1"/>
                </a:solidFill>
              </a:rPr>
              <a:t>High out-of-pocket expenditures</a:t>
            </a:r>
          </a:p>
          <a:p>
            <a:pPr marL="171450" lvl="0" indent="-171450" algn="l" rtl="0">
              <a:lnSpc>
                <a:spcPct val="100000"/>
              </a:lnSpc>
              <a:spcAft>
                <a:spcPts val="0"/>
              </a:spcAft>
              <a:buClr>
                <a:schemeClr val="dk1"/>
              </a:buClr>
              <a:buSzPts val="688"/>
              <a:buFont typeface="Wingdings" pitchFamily="2" charset="2"/>
              <a:buChar char="§"/>
            </a:pPr>
            <a:r>
              <a:rPr lang="es-MX" sz="1200" b="1" dirty="0">
                <a:solidFill>
                  <a:schemeClr val="dk1"/>
                </a:solidFill>
              </a:rPr>
              <a:t>Corruption, which results in:</a:t>
            </a:r>
          </a:p>
          <a:p>
            <a:pPr marL="628650" lvl="1" indent="-171450">
              <a:lnSpc>
                <a:spcPct val="100000"/>
              </a:lnSpc>
              <a:buClr>
                <a:schemeClr val="dk1"/>
              </a:buClr>
              <a:buSzPts val="688"/>
              <a:buFont typeface="Wingdings" pitchFamily="2" charset="2"/>
              <a:buChar char="§"/>
            </a:pPr>
            <a:r>
              <a:rPr lang="es-MX" dirty="0">
                <a:solidFill>
                  <a:schemeClr val="dk1"/>
                </a:solidFill>
              </a:rPr>
              <a:t>Misappropriation of funds</a:t>
            </a:r>
          </a:p>
          <a:p>
            <a:pPr marL="628650" lvl="1" indent="-171450">
              <a:lnSpc>
                <a:spcPct val="100000"/>
              </a:lnSpc>
              <a:buClr>
                <a:schemeClr val="dk1"/>
              </a:buClr>
              <a:buSzPts val="688"/>
              <a:buFont typeface="Wingdings" pitchFamily="2" charset="2"/>
              <a:buChar char="§"/>
            </a:pPr>
            <a:r>
              <a:rPr lang="es-MX" dirty="0">
                <a:solidFill>
                  <a:schemeClr val="dk1"/>
                </a:solidFill>
              </a:rPr>
              <a:t>Further inequality in healthcare access</a:t>
            </a:r>
          </a:p>
          <a:p>
            <a:pPr marL="628650" lvl="1" indent="-171450">
              <a:lnSpc>
                <a:spcPct val="100000"/>
              </a:lnSpc>
              <a:buClr>
                <a:schemeClr val="dk1"/>
              </a:buClr>
              <a:buSzPts val="688"/>
              <a:buFont typeface="Wingdings" pitchFamily="2" charset="2"/>
              <a:buChar char="§"/>
            </a:pPr>
            <a:r>
              <a:rPr lang="es-MX" dirty="0">
                <a:solidFill>
                  <a:schemeClr val="dk1"/>
                </a:solidFill>
              </a:rPr>
              <a:t>Violations of labor rights</a:t>
            </a:r>
          </a:p>
          <a:p>
            <a:pPr marL="171450" lvl="0" indent="-171450" algn="l" rtl="0">
              <a:lnSpc>
                <a:spcPct val="100000"/>
              </a:lnSpc>
              <a:spcAft>
                <a:spcPts val="0"/>
              </a:spcAft>
              <a:buClr>
                <a:schemeClr val="dk1"/>
              </a:buClr>
              <a:buSzPts val="688"/>
              <a:buFont typeface="Wingdings" pitchFamily="2" charset="2"/>
              <a:buChar char="§"/>
            </a:pPr>
            <a:r>
              <a:rPr lang="es-MX" sz="1200" b="1" dirty="0">
                <a:solidFill>
                  <a:schemeClr val="dk1"/>
                </a:solidFill>
              </a:rPr>
              <a:t>Moral hazard behavior in doctors:</a:t>
            </a:r>
          </a:p>
          <a:p>
            <a:pPr marL="628650" lvl="1" indent="-171450">
              <a:lnSpc>
                <a:spcPct val="100000"/>
              </a:lnSpc>
              <a:buClr>
                <a:schemeClr val="dk1"/>
              </a:buClr>
              <a:buSzPts val="688"/>
              <a:buFont typeface="Wingdings" pitchFamily="2" charset="2"/>
              <a:buChar char="§"/>
            </a:pPr>
            <a:r>
              <a:rPr lang="es-MX" dirty="0">
                <a:solidFill>
                  <a:schemeClr val="dk1"/>
                </a:solidFill>
              </a:rPr>
              <a:t>Excessive / Insufficient testing</a:t>
            </a:r>
          </a:p>
          <a:p>
            <a:pPr marL="628650" lvl="1" indent="-171450">
              <a:lnSpc>
                <a:spcPct val="100000"/>
              </a:lnSpc>
              <a:buClr>
                <a:schemeClr val="dk1"/>
              </a:buClr>
              <a:buSzPts val="688"/>
              <a:buFont typeface="Wingdings" pitchFamily="2" charset="2"/>
              <a:buChar char="§"/>
            </a:pPr>
            <a:r>
              <a:rPr lang="es-MX" dirty="0">
                <a:solidFill>
                  <a:schemeClr val="dk1"/>
                </a:solidFill>
              </a:rPr>
              <a:t>High out-of-pocket expenditures</a:t>
            </a:r>
          </a:p>
          <a:p>
            <a:pPr marL="628650" lvl="1" indent="-171450">
              <a:lnSpc>
                <a:spcPct val="100000"/>
              </a:lnSpc>
              <a:buClr>
                <a:schemeClr val="dk1"/>
              </a:buClr>
              <a:buSzPts val="688"/>
              <a:buFont typeface="Wingdings" pitchFamily="2" charset="2"/>
              <a:buChar char="§"/>
            </a:pPr>
            <a:r>
              <a:rPr lang="es-MX" dirty="0">
                <a:solidFill>
                  <a:schemeClr val="dk1"/>
                </a:solidFill>
              </a:rPr>
              <a:t>Overtreatment / Undertreatment</a:t>
            </a:r>
            <a:br>
              <a:rPr lang="es-MX" dirty="0">
                <a:solidFill>
                  <a:schemeClr val="dk1"/>
                </a:solidFill>
              </a:rPr>
            </a:br>
            <a:endParaRPr lang="es-MX" dirty="0">
              <a:solidFill>
                <a:schemeClr val="dk1"/>
              </a:solidFill>
            </a:endParaRPr>
          </a:p>
          <a:p>
            <a:pPr marL="0" lvl="0" indent="0" algn="l" rtl="0">
              <a:lnSpc>
                <a:spcPct val="100000"/>
              </a:lnSpc>
              <a:spcAft>
                <a:spcPts val="1200"/>
              </a:spcAft>
              <a:buSzPts val="688"/>
              <a:buNone/>
            </a:pPr>
            <a:r>
              <a:rPr lang="es-MX" sz="1200" dirty="0">
                <a:solidFill>
                  <a:schemeClr val="dk1"/>
                </a:solidFill>
              </a:rPr>
              <a:t>While our primary focus will be on the </a:t>
            </a:r>
            <a:r>
              <a:rPr lang="es-MX" sz="1200" b="1" dirty="0">
                <a:solidFill>
                  <a:schemeClr val="dk1"/>
                </a:solidFill>
              </a:rPr>
              <a:t>moral hazard behavior</a:t>
            </a:r>
            <a:r>
              <a:rPr lang="es-MX" sz="1200" dirty="0">
                <a:solidFill>
                  <a:schemeClr val="dk1"/>
                </a:solidFill>
              </a:rPr>
              <a:t>, we will also briefly discuss the first and second—particularly regarding unequal access to healthcare. The disparities in public allocation resources has been studied before thoroughly (PUT ARTICLES HERE). People from higher quality providers also pay more on taxes, so it’s difficult to make a clear link. The corruption market failure is challenging to study since we don’t have granular data.</a:t>
            </a:r>
            <a:endParaRPr sz="12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3"/>
          <p:cNvSpPr txBox="1">
            <a:spLocks noGrp="1"/>
          </p:cNvSpPr>
          <p:nvPr>
            <p:ph type="title"/>
          </p:nvPr>
        </p:nvSpPr>
        <p:spPr>
          <a:xfrm>
            <a:off x="311700" y="574625"/>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Research question</a:t>
            </a:r>
            <a:endParaRPr dirty="0">
              <a:solidFill>
                <a:schemeClr val="accent1"/>
              </a:solidFill>
            </a:endParaRPr>
          </a:p>
        </p:txBody>
      </p:sp>
      <p:sp>
        <p:nvSpPr>
          <p:cNvPr id="141" name="Google Shape;141;p13"/>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s-MX"/>
              <a:t>Does moral hazard among doctors in the Mexican healthcare system lead to substantial differences in healthcare quality?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311699" y="4546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MX" dirty="0">
                <a:solidFill>
                  <a:schemeClr val="accent1"/>
                </a:solidFill>
              </a:rPr>
              <a:t>Market failure: Moral Hazard explanation (put this text in notes and change for images)</a:t>
            </a:r>
            <a:endParaRPr dirty="0">
              <a:solidFill>
                <a:schemeClr val="accent1"/>
              </a:solidFill>
            </a:endParaRPr>
          </a:p>
        </p:txBody>
      </p:sp>
      <p:sp>
        <p:nvSpPr>
          <p:cNvPr id="147" name="Google Shape;147;p14"/>
          <p:cNvSpPr txBox="1">
            <a:spLocks noGrp="1"/>
          </p:cNvSpPr>
          <p:nvPr>
            <p:ph type="body" idx="1"/>
          </p:nvPr>
        </p:nvSpPr>
        <p:spPr>
          <a:xfrm>
            <a:off x="92926" y="1272491"/>
            <a:ext cx="8520600" cy="3416400"/>
          </a:xfrm>
          <a:prstGeom prst="rect">
            <a:avLst/>
          </a:prstGeom>
          <a:noFill/>
          <a:ln>
            <a:noFill/>
          </a:ln>
        </p:spPr>
        <p:txBody>
          <a:bodyPr spcFirstLastPara="1" wrap="square" lIns="91425" tIns="91425" rIns="91425" bIns="91425" anchor="t" anchorCtr="0">
            <a:normAutofit/>
          </a:bodyPr>
          <a:lstStyle/>
          <a:p>
            <a:pPr marL="457200" lvl="0" indent="-322729" algn="l" rtl="0">
              <a:lnSpc>
                <a:spcPct val="115000"/>
              </a:lnSpc>
              <a:spcBef>
                <a:spcPts val="0"/>
              </a:spcBef>
              <a:spcAft>
                <a:spcPts val="0"/>
              </a:spcAft>
              <a:buSzPct val="117647"/>
              <a:buChar char="●"/>
            </a:pPr>
            <a:r>
              <a:rPr lang="es-MX" dirty="0">
                <a:solidFill>
                  <a:schemeClr val="dk1"/>
                </a:solidFill>
              </a:rPr>
              <a:t>Goverment (the principal) wants to deliver Healthcare to its citizens and have Universal Health Coverage. The principal has the structure (Providers).</a:t>
            </a:r>
            <a:endParaRPr dirty="0"/>
          </a:p>
          <a:p>
            <a:pPr marL="457200" lvl="0" indent="-322729" algn="l" rtl="0">
              <a:lnSpc>
                <a:spcPct val="115000"/>
              </a:lnSpc>
              <a:spcBef>
                <a:spcPts val="0"/>
              </a:spcBef>
              <a:spcAft>
                <a:spcPts val="0"/>
              </a:spcAft>
              <a:buSzPct val="117647"/>
              <a:buChar char="●"/>
            </a:pPr>
            <a:r>
              <a:rPr lang="es-MX" dirty="0">
                <a:solidFill>
                  <a:schemeClr val="dk1"/>
                </a:solidFill>
              </a:rPr>
              <a:t>However, since it cannot deliver everything to everyone, they have these intermediaries (doctors) who evaluate each individual health and prescribe treatment. These doctors are the agents. </a:t>
            </a:r>
            <a:endParaRPr dirty="0"/>
          </a:p>
          <a:p>
            <a:pPr marL="457200" lvl="0" indent="-322729" algn="l" rtl="0">
              <a:lnSpc>
                <a:spcPct val="115000"/>
              </a:lnSpc>
              <a:spcBef>
                <a:spcPts val="0"/>
              </a:spcBef>
              <a:spcAft>
                <a:spcPts val="0"/>
              </a:spcAft>
              <a:buSzPct val="117647"/>
              <a:buChar char="●"/>
            </a:pPr>
            <a:r>
              <a:rPr lang="es-MX" dirty="0">
                <a:solidFill>
                  <a:schemeClr val="dk1"/>
                </a:solidFill>
              </a:rPr>
              <a:t>Recall that, in the public sector, agents are paid by base income. In private sectors, doctors are paid by serve provided (</a:t>
            </a:r>
            <a:r>
              <a:rPr lang="es-MX" u="sng" dirty="0">
                <a:solidFill>
                  <a:schemeClr val="dk1"/>
                </a:solidFill>
                <a:hlinkClick r:id="rId3">
                  <a:extLst>
                    <a:ext uri="{A12FA001-AC4F-418D-AE19-62706E023703}">
                      <ahyp:hlinkClr xmlns:ahyp="http://schemas.microsoft.com/office/drawing/2018/hyperlinkcolor" val="tx"/>
                    </a:ext>
                  </a:extLst>
                </a:hlinkClick>
              </a:rPr>
              <a:t>https://saludpublica.mx/index.php/spm/article/view/5761/6382</a:t>
            </a:r>
            <a:r>
              <a:rPr lang="es-MX" dirty="0">
                <a:solidFill>
                  <a:schemeClr val="dk1"/>
                </a:solidFill>
              </a:rPr>
              <a:t>).</a:t>
            </a:r>
            <a:endParaRPr dirty="0"/>
          </a:p>
          <a:p>
            <a:pPr marL="457200" lvl="0" indent="-322729" algn="l" rtl="0">
              <a:lnSpc>
                <a:spcPct val="115000"/>
              </a:lnSpc>
              <a:spcBef>
                <a:spcPts val="0"/>
              </a:spcBef>
              <a:spcAft>
                <a:spcPts val="0"/>
              </a:spcAft>
              <a:buSzPct val="117647"/>
              <a:buChar char="●"/>
            </a:pPr>
            <a:r>
              <a:rPr lang="es-MX" dirty="0">
                <a:solidFill>
                  <a:schemeClr val="dk1"/>
                </a:solidFill>
              </a:rPr>
              <a:t>Since these agents are difficult to monitor (since medical knowledge can be diverse) they can undertreat and show “less effort” Because they will have a Payment anyways.</a:t>
            </a:r>
            <a:endParaRPr dirty="0"/>
          </a:p>
          <a:p>
            <a:pPr marL="457200" lvl="0" indent="-322729" algn="l" rtl="0">
              <a:lnSpc>
                <a:spcPct val="115000"/>
              </a:lnSpc>
              <a:spcBef>
                <a:spcPts val="0"/>
              </a:spcBef>
              <a:spcAft>
                <a:spcPts val="0"/>
              </a:spcAft>
              <a:buSzPct val="117647"/>
              <a:buChar char="●"/>
            </a:pPr>
            <a:r>
              <a:rPr lang="es-MX" b="1" dirty="0">
                <a:solidFill>
                  <a:schemeClr val="dk1"/>
                </a:solidFill>
                <a:highlight>
                  <a:srgbClr val="FFFF00"/>
                </a:highlight>
              </a:rPr>
              <a:t>Undertreatment is aligned with low health outcomes, it is also aligned with low propensity to return with that doctor/clinic, leading to a market failure for the Government because they cannot deliver to citizens good health quality. </a:t>
            </a:r>
            <a:endParaRPr dirty="0"/>
          </a:p>
        </p:txBody>
      </p:sp>
      <p:sp>
        <p:nvSpPr>
          <p:cNvPr id="148" name="Google Shape;148;p14"/>
          <p:cNvSpPr txBox="1"/>
          <p:nvPr/>
        </p:nvSpPr>
        <p:spPr>
          <a:xfrm>
            <a:off x="92925" y="4112228"/>
            <a:ext cx="8958147"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400" b="0" i="0" u="none" strike="noStrike" cap="none" dirty="0">
                <a:solidFill>
                  <a:schemeClr val="dk1"/>
                </a:solidFill>
                <a:ea typeface="Arial"/>
                <a:cs typeface="Arial"/>
                <a:sym typeface="Arial"/>
              </a:rPr>
              <a:t>Undertreatment, particularly in a medical context, implies that a patient or condition is not receiving the necessary or recommended treatment for a specific illness, injury, or ailment. This can be due to various factors, including misdiagnosis, lack of access to care, or ineffective treatment strategies.</a:t>
            </a:r>
            <a:endParaRPr sz="1400" b="0" i="0" u="none" strike="noStrike" cap="none" dirty="0">
              <a:solidFill>
                <a:schemeClr val="dk1"/>
              </a:solidFil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5"/>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111"/>
              <a:buNone/>
            </a:pPr>
            <a:r>
              <a:rPr lang="es-MX" dirty="0">
                <a:solidFill>
                  <a:schemeClr val="accent1"/>
                </a:solidFill>
              </a:rPr>
              <a:t>Hypotheses to prove market failure	</a:t>
            </a:r>
            <a:endParaRPr dirty="0">
              <a:solidFill>
                <a:schemeClr val="accent1"/>
              </a:solidFill>
            </a:endParaRPr>
          </a:p>
        </p:txBody>
      </p:sp>
      <p:sp>
        <p:nvSpPr>
          <p:cNvPr id="154" name="Google Shape;154;p15"/>
          <p:cNvSpPr txBox="1">
            <a:spLocks noGrp="1"/>
          </p:cNvSpPr>
          <p:nvPr>
            <p:ph type="body" idx="1"/>
          </p:nvPr>
        </p:nvSpPr>
        <p:spPr>
          <a:xfrm>
            <a:off x="311700" y="1539278"/>
            <a:ext cx="8520600" cy="2950946"/>
          </a:xfrm>
          <a:prstGeom prst="rect">
            <a:avLst/>
          </a:prstGeom>
          <a:noFill/>
          <a:ln>
            <a:noFill/>
          </a:ln>
        </p:spPr>
        <p:txBody>
          <a:bodyPr spcFirstLastPara="1" wrap="square" lIns="91425" tIns="91425" rIns="91425" bIns="91425" anchor="t" anchorCtr="0">
            <a:noAutofit/>
          </a:bodyPr>
          <a:lstStyle/>
          <a:p>
            <a:pPr marL="131400" lvl="0" indent="0" algn="l" rtl="0">
              <a:lnSpc>
                <a:spcPct val="100000"/>
              </a:lnSpc>
              <a:spcBef>
                <a:spcPts val="0"/>
              </a:spcBef>
              <a:spcAft>
                <a:spcPts val="0"/>
              </a:spcAft>
              <a:buSzPts val="1800"/>
              <a:buNone/>
            </a:pPr>
            <a:r>
              <a:rPr lang="es-MX" sz="1100" dirty="0">
                <a:solidFill>
                  <a:schemeClr val="dk1"/>
                </a:solidFill>
              </a:rPr>
              <a:t>1. With fixed salaries and low monitoring, providers may induce less services. </a:t>
            </a:r>
            <a:endParaRPr dirty="0"/>
          </a:p>
          <a:p>
            <a:pPr marL="131400" lvl="0" indent="0" algn="l" rtl="0">
              <a:lnSpc>
                <a:spcPct val="100000"/>
              </a:lnSpc>
              <a:spcBef>
                <a:spcPts val="1200"/>
              </a:spcBef>
              <a:spcAft>
                <a:spcPts val="0"/>
              </a:spcAft>
              <a:buSzPts val="1800"/>
              <a:buNone/>
            </a:pPr>
            <a:r>
              <a:rPr lang="es-MX" sz="1100" dirty="0">
                <a:solidFill>
                  <a:schemeClr val="dk1"/>
                </a:solidFill>
              </a:rPr>
              <a:t>2. With fixed salaries and low monitoring, providers spend less effort per patient. </a:t>
            </a:r>
            <a:endParaRPr dirty="0"/>
          </a:p>
          <a:p>
            <a:pPr marL="131400" lvl="0" indent="0" algn="l" rtl="0">
              <a:lnSpc>
                <a:spcPct val="100000"/>
              </a:lnSpc>
              <a:spcBef>
                <a:spcPts val="1200"/>
              </a:spcBef>
              <a:spcAft>
                <a:spcPts val="0"/>
              </a:spcAft>
              <a:buSzPts val="1800"/>
              <a:buNone/>
            </a:pPr>
            <a:r>
              <a:rPr lang="es-MX" sz="1100" dirty="0">
                <a:solidFill>
                  <a:schemeClr val="dk1"/>
                </a:solidFill>
              </a:rPr>
              <a:t>3. Moral hazard leads to inefficient care. (Data: if they got better after treatment)</a:t>
            </a:r>
            <a:endParaRPr dirty="0"/>
          </a:p>
          <a:p>
            <a:pPr marL="131400" lvl="0" indent="0" algn="l" rtl="0">
              <a:lnSpc>
                <a:spcPct val="100000"/>
              </a:lnSpc>
              <a:spcBef>
                <a:spcPts val="1200"/>
              </a:spcBef>
              <a:spcAft>
                <a:spcPts val="0"/>
              </a:spcAft>
              <a:buSzPts val="1800"/>
              <a:buNone/>
            </a:pPr>
            <a:r>
              <a:rPr lang="es-MX" sz="1100" dirty="0">
                <a:solidFill>
                  <a:schemeClr val="dk1"/>
                </a:solidFill>
              </a:rPr>
              <a:t>4 If doctors don’t care on getting more patients because they will be paid anyways, this leads to </a:t>
            </a:r>
            <a:r>
              <a:rPr lang="es-MX" sz="1100" b="1" dirty="0">
                <a:solidFill>
                  <a:schemeClr val="dk1"/>
                </a:solidFill>
              </a:rPr>
              <a:t>longer wait times</a:t>
            </a:r>
            <a:r>
              <a:rPr lang="es-MX" sz="1100" dirty="0">
                <a:solidFill>
                  <a:schemeClr val="dk1"/>
                </a:solidFill>
              </a:rPr>
              <a:t> and </a:t>
            </a:r>
            <a:r>
              <a:rPr lang="es-MX" sz="1100" b="1" dirty="0">
                <a:solidFill>
                  <a:schemeClr val="dk1"/>
                </a:solidFill>
              </a:rPr>
              <a:t>less appointment availability</a:t>
            </a:r>
            <a:r>
              <a:rPr lang="es-MX" sz="1100" dirty="0">
                <a:solidFill>
                  <a:schemeClr val="dk1"/>
                </a:solidFill>
              </a:rPr>
              <a:t>.</a:t>
            </a:r>
            <a:endParaRPr dirty="0"/>
          </a:p>
          <a:p>
            <a:pPr marL="131400" lvl="0" indent="0" algn="l" rtl="0">
              <a:lnSpc>
                <a:spcPct val="100000"/>
              </a:lnSpc>
              <a:spcBef>
                <a:spcPts val="1200"/>
              </a:spcBef>
              <a:spcAft>
                <a:spcPts val="0"/>
              </a:spcAft>
              <a:buSzPts val="1800"/>
              <a:buNone/>
            </a:pPr>
            <a:r>
              <a:rPr lang="es-MX" sz="1100" dirty="0">
                <a:solidFill>
                  <a:schemeClr val="dk1"/>
                </a:solidFill>
              </a:rPr>
              <a:t>5. People not getting the treatment as expected in hospital are also related to usually get treated in private systems or alternative medicine</a:t>
            </a:r>
            <a:endParaRPr sz="1100" dirty="0">
              <a:solidFill>
                <a:schemeClr val="dk1"/>
              </a:solidFill>
            </a:endParaRPr>
          </a:p>
          <a:p>
            <a:pPr marL="131400" lvl="0" indent="0" algn="l" rtl="0">
              <a:lnSpc>
                <a:spcPct val="100000"/>
              </a:lnSpc>
              <a:spcBef>
                <a:spcPts val="1200"/>
              </a:spcBef>
              <a:spcAft>
                <a:spcPts val="1200"/>
              </a:spcAft>
              <a:buSzPts val="1800"/>
              <a:buNone/>
            </a:pPr>
            <a:r>
              <a:rPr lang="es-MX" sz="1100" dirty="0">
                <a:solidFill>
                  <a:schemeClr val="dk1"/>
                </a:solidFill>
              </a:rPr>
              <a:t>Moral hazard can lead to the misuse of healthcare resources, like medications, hospital beds, or staff time, ultimately affecting the availability of services for those who truly need them, or increasing spending for this specific provider. If this is the case, allocation of resources across other patients inside this system and pertaining to other might face difficulties. </a:t>
            </a:r>
            <a:endParaRPr sz="1100" dirty="0">
              <a:solidFill>
                <a:schemeClr val="dk1"/>
              </a:solidFill>
            </a:endParaRPr>
          </a:p>
        </p:txBody>
      </p:sp>
      <p:sp>
        <p:nvSpPr>
          <p:cNvPr id="155" name="Google Shape;155;p15"/>
          <p:cNvSpPr txBox="1">
            <a:spLocks noGrp="1"/>
          </p:cNvSpPr>
          <p:nvPr>
            <p:ph type="body" idx="4294967295"/>
          </p:nvPr>
        </p:nvSpPr>
        <p:spPr>
          <a:xfrm>
            <a:off x="623888" y="955675"/>
            <a:ext cx="8520112" cy="58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800"/>
              <a:buNone/>
            </a:pPr>
            <a:r>
              <a:rPr lang="es-MX" sz="1000">
                <a:solidFill>
                  <a:schemeClr val="dk1"/>
                </a:solidFill>
              </a:rPr>
              <a:t>What we want to prove: The possibility of health care providers abusing a system in order to ‘reduce effort’ at the expense of consumers, providers, or the system in general. </a:t>
            </a:r>
            <a:endParaRPr sz="1000">
              <a:solidFill>
                <a:schemeClr val="dk1"/>
              </a:solidFill>
            </a:endParaRP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6"/>
          <p:cNvSpPr txBox="1">
            <a:spLocks noGrp="1"/>
          </p:cNvSpPr>
          <p:nvPr>
            <p:ph type="title"/>
          </p:nvPr>
        </p:nvSpPr>
        <p:spPr>
          <a:xfrm>
            <a:off x="311700" y="36258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MX" dirty="0">
                <a:solidFill>
                  <a:schemeClr val="accent1"/>
                </a:solidFill>
              </a:rPr>
              <a:t>Before starting: Do they have different health conditions across providers? (CHECK)</a:t>
            </a:r>
            <a:endParaRPr dirty="0">
              <a:solidFill>
                <a:schemeClr val="accent1"/>
              </a:solidFill>
            </a:endParaRPr>
          </a:p>
        </p:txBody>
      </p:sp>
      <p:pic>
        <p:nvPicPr>
          <p:cNvPr id="161" name="Google Shape;161;p16"/>
          <p:cNvPicPr preferRelativeResize="0"/>
          <p:nvPr/>
        </p:nvPicPr>
        <p:blipFill rotWithShape="1">
          <a:blip r:embed="rId3">
            <a:alphaModFix/>
          </a:blip>
          <a:srcRect/>
          <a:stretch/>
        </p:blipFill>
        <p:spPr>
          <a:xfrm>
            <a:off x="1377381" y="1169130"/>
            <a:ext cx="6175563" cy="375826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7"/>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a:solidFill>
                  <a:schemeClr val="accent1"/>
                </a:solidFill>
                <a:latin typeface="+mn-lt"/>
              </a:rPr>
              <a:t>Hypothesis 1</a:t>
            </a:r>
            <a:endParaRPr>
              <a:solidFill>
                <a:schemeClr val="accent1"/>
              </a:solidFill>
              <a:latin typeface="+mn-lt"/>
            </a:endParaRPr>
          </a:p>
        </p:txBody>
      </p:sp>
      <p:sp>
        <p:nvSpPr>
          <p:cNvPr id="167" name="Google Shape;167;p17"/>
          <p:cNvSpPr txBox="1"/>
          <p:nvPr/>
        </p:nvSpPr>
        <p:spPr>
          <a:xfrm>
            <a:off x="1646663" y="1089176"/>
            <a:ext cx="5236754" cy="215444"/>
          </a:xfrm>
          <a:prstGeom prst="rect">
            <a:avLst/>
          </a:prstGeom>
          <a:blipFill rotWithShape="1">
            <a:blip r:embed="rId3">
              <a:alphaModFix/>
            </a:blip>
            <a:stretch>
              <a:fillRect l="-465" r="-232" b="-3332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s-MX" sz="1400" b="0" i="0" u="none" strike="noStrike" cap="none">
                <a:latin typeface="Arial"/>
                <a:ea typeface="Arial"/>
                <a:cs typeface="Arial"/>
                <a:sym typeface="Arial"/>
              </a:rPr>
              <a:t> </a:t>
            </a:r>
            <a:endParaRPr/>
          </a:p>
        </p:txBody>
      </p:sp>
      <p:sp>
        <p:nvSpPr>
          <p:cNvPr id="168" name="Google Shape;168;p17"/>
          <p:cNvSpPr txBox="1"/>
          <p:nvPr/>
        </p:nvSpPr>
        <p:spPr>
          <a:xfrm>
            <a:off x="2590798" y="445025"/>
            <a:ext cx="6241501" cy="523220"/>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400" b="0" i="0" u="none" strike="noStrike" cap="none" dirty="0">
                <a:solidFill>
                  <a:srgbClr val="000000"/>
                </a:solidFill>
                <a:ea typeface="Arial"/>
                <a:cs typeface="Arial"/>
                <a:sym typeface="Arial"/>
              </a:rPr>
              <a:t>With fixed salaries and low monitoring, providers may induce less services and medicine prescription. </a:t>
            </a:r>
            <a:endParaRPr dirty="0"/>
          </a:p>
        </p:txBody>
      </p:sp>
      <p:sp>
        <p:nvSpPr>
          <p:cNvPr id="169" name="Google Shape;169;p17"/>
          <p:cNvSpPr txBox="1"/>
          <p:nvPr/>
        </p:nvSpPr>
        <p:spPr>
          <a:xfrm>
            <a:off x="68312" y="4794998"/>
            <a:ext cx="50449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400" b="0" i="0" u="none" strike="noStrike" cap="none" dirty="0">
                <a:ea typeface="Arial"/>
                <a:cs typeface="Arial"/>
                <a:sym typeface="Arial"/>
              </a:rPr>
              <a:t>Base comparison= Private (since they don’t get fixed income)</a:t>
            </a:r>
            <a:endParaRPr dirty="0"/>
          </a:p>
        </p:txBody>
      </p:sp>
      <p:pic>
        <p:nvPicPr>
          <p:cNvPr id="170" name="Google Shape;170;p17"/>
          <p:cNvPicPr preferRelativeResize="0"/>
          <p:nvPr/>
        </p:nvPicPr>
        <p:blipFill rotWithShape="1">
          <a:blip r:embed="rId4">
            <a:alphaModFix/>
          </a:blip>
          <a:srcRect/>
          <a:stretch/>
        </p:blipFill>
        <p:spPr>
          <a:xfrm>
            <a:off x="467824" y="1483558"/>
            <a:ext cx="3908744" cy="3314241"/>
          </a:xfrm>
          <a:prstGeom prst="rect">
            <a:avLst/>
          </a:prstGeom>
          <a:noFill/>
          <a:ln>
            <a:noFill/>
          </a:ln>
        </p:spPr>
      </p:pic>
      <p:pic>
        <p:nvPicPr>
          <p:cNvPr id="171" name="Google Shape;171;p17"/>
          <p:cNvPicPr preferRelativeResize="0"/>
          <p:nvPr/>
        </p:nvPicPr>
        <p:blipFill rotWithShape="1">
          <a:blip r:embed="rId5">
            <a:alphaModFix/>
          </a:blip>
          <a:srcRect/>
          <a:stretch/>
        </p:blipFill>
        <p:spPr>
          <a:xfrm>
            <a:off x="4376568" y="1742168"/>
            <a:ext cx="4621958" cy="274785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a:solidFill>
                  <a:schemeClr val="accent1"/>
                </a:solidFill>
              </a:rPr>
              <a:t>Hypothesis 1</a:t>
            </a:r>
            <a:endParaRPr>
              <a:solidFill>
                <a:schemeClr val="accent1"/>
              </a:solidFill>
            </a:endParaRPr>
          </a:p>
        </p:txBody>
      </p:sp>
      <p:sp>
        <p:nvSpPr>
          <p:cNvPr id="177" name="Google Shape;177;p18"/>
          <p:cNvSpPr txBox="1"/>
          <p:nvPr/>
        </p:nvSpPr>
        <p:spPr>
          <a:xfrm>
            <a:off x="1646663" y="1208048"/>
            <a:ext cx="4837926" cy="215444"/>
          </a:xfrm>
          <a:prstGeom prst="rect">
            <a:avLst/>
          </a:prstGeom>
          <a:blipFill rotWithShape="1">
            <a:blip r:embed="rId3">
              <a:alphaModFix/>
            </a:blip>
            <a:stretch>
              <a:fillRect l="-629" r="-250" b="-3332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s-MX" sz="1400" b="0" i="0" u="none" strike="noStrike" cap="none">
                <a:latin typeface="Arial"/>
                <a:ea typeface="Arial"/>
                <a:cs typeface="Arial"/>
                <a:sym typeface="Arial"/>
              </a:rPr>
              <a:t> </a:t>
            </a:r>
            <a:endParaRPr/>
          </a:p>
        </p:txBody>
      </p:sp>
      <p:pic>
        <p:nvPicPr>
          <p:cNvPr id="178" name="Google Shape;178;p18"/>
          <p:cNvPicPr preferRelativeResize="0"/>
          <p:nvPr/>
        </p:nvPicPr>
        <p:blipFill rotWithShape="1">
          <a:blip r:embed="rId4">
            <a:alphaModFix/>
          </a:blip>
          <a:srcRect/>
          <a:stretch/>
        </p:blipFill>
        <p:spPr>
          <a:xfrm>
            <a:off x="311700" y="1643092"/>
            <a:ext cx="4560902" cy="3284963"/>
          </a:xfrm>
          <a:prstGeom prst="rect">
            <a:avLst/>
          </a:prstGeom>
          <a:noFill/>
          <a:ln>
            <a:noFill/>
          </a:ln>
        </p:spPr>
      </p:pic>
      <p:pic>
        <p:nvPicPr>
          <p:cNvPr id="179" name="Google Shape;179;p18"/>
          <p:cNvPicPr preferRelativeResize="0"/>
          <p:nvPr/>
        </p:nvPicPr>
        <p:blipFill rotWithShape="1">
          <a:blip r:embed="rId5">
            <a:alphaModFix/>
          </a:blip>
          <a:srcRect/>
          <a:stretch/>
        </p:blipFill>
        <p:spPr>
          <a:xfrm>
            <a:off x="4746268" y="1757881"/>
            <a:ext cx="4242149" cy="305538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9"/>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Hypothesis 2</a:t>
            </a:r>
            <a:endParaRPr dirty="0">
              <a:solidFill>
                <a:schemeClr val="accent1"/>
              </a:solidFill>
            </a:endParaRPr>
          </a:p>
        </p:txBody>
      </p:sp>
      <p:sp>
        <p:nvSpPr>
          <p:cNvPr id="185" name="Google Shape;185;p19"/>
          <p:cNvSpPr txBox="1"/>
          <p:nvPr/>
        </p:nvSpPr>
        <p:spPr>
          <a:xfrm>
            <a:off x="2110272" y="1083786"/>
            <a:ext cx="4645951" cy="215444"/>
          </a:xfrm>
          <a:prstGeom prst="rect">
            <a:avLst/>
          </a:prstGeom>
          <a:blipFill rotWithShape="1">
            <a:blip r:embed="rId3">
              <a:alphaModFix/>
            </a:blip>
            <a:stretch>
              <a:fillRect l="-1179" r="-261" b="-3428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s-MX" sz="1400" b="0" i="0" u="none" strike="noStrike" cap="none">
                <a:latin typeface="Arial"/>
                <a:ea typeface="Arial"/>
                <a:cs typeface="Arial"/>
                <a:sym typeface="Arial"/>
              </a:rPr>
              <a:t> </a:t>
            </a:r>
            <a:endParaRPr/>
          </a:p>
        </p:txBody>
      </p:sp>
      <p:sp>
        <p:nvSpPr>
          <p:cNvPr id="186" name="Google Shape;186;p19"/>
          <p:cNvSpPr txBox="1"/>
          <p:nvPr/>
        </p:nvSpPr>
        <p:spPr>
          <a:xfrm>
            <a:off x="2590798" y="445025"/>
            <a:ext cx="6241501" cy="307736"/>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400" b="0" i="0" u="none" strike="noStrike" cap="none" dirty="0">
                <a:solidFill>
                  <a:srgbClr val="000000"/>
                </a:solidFill>
                <a:ea typeface="Arial"/>
                <a:cs typeface="Arial"/>
                <a:sym typeface="Arial"/>
              </a:rPr>
              <a:t>With fixed salaries and low monitoring, doctors apply less effort per treatment. </a:t>
            </a:r>
            <a:endParaRPr dirty="0"/>
          </a:p>
        </p:txBody>
      </p:sp>
      <p:sp>
        <p:nvSpPr>
          <p:cNvPr id="187" name="Google Shape;187;p19"/>
          <p:cNvSpPr txBox="1"/>
          <p:nvPr/>
        </p:nvSpPr>
        <p:spPr>
          <a:xfrm>
            <a:off x="35233" y="4797799"/>
            <a:ext cx="50449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MX" sz="1400" b="0" i="0" u="none" strike="noStrike" cap="none" dirty="0">
                <a:solidFill>
                  <a:srgbClr val="000000"/>
                </a:solidFill>
                <a:ea typeface="Arial"/>
                <a:cs typeface="Arial"/>
                <a:sym typeface="Arial"/>
              </a:rPr>
              <a:t>Base comparison= Private (since they don’t get fixed income)</a:t>
            </a:r>
            <a:endParaRPr dirty="0"/>
          </a:p>
        </p:txBody>
      </p:sp>
      <p:pic>
        <p:nvPicPr>
          <p:cNvPr id="188" name="Google Shape;188;p19"/>
          <p:cNvPicPr preferRelativeResize="0"/>
          <p:nvPr/>
        </p:nvPicPr>
        <p:blipFill rotWithShape="1">
          <a:blip r:embed="rId4">
            <a:alphaModFix/>
          </a:blip>
          <a:srcRect/>
          <a:stretch/>
        </p:blipFill>
        <p:spPr>
          <a:xfrm>
            <a:off x="4237780" y="1646754"/>
            <a:ext cx="4752464" cy="2745278"/>
          </a:xfrm>
          <a:prstGeom prst="rect">
            <a:avLst/>
          </a:prstGeom>
          <a:noFill/>
          <a:ln>
            <a:noFill/>
          </a:ln>
        </p:spPr>
      </p:pic>
      <p:pic>
        <p:nvPicPr>
          <p:cNvPr id="189" name="Google Shape;189;p19"/>
          <p:cNvPicPr preferRelativeResize="0"/>
          <p:nvPr/>
        </p:nvPicPr>
        <p:blipFill rotWithShape="1">
          <a:blip r:embed="rId5">
            <a:alphaModFix/>
          </a:blip>
          <a:srcRect/>
          <a:stretch/>
        </p:blipFill>
        <p:spPr>
          <a:xfrm>
            <a:off x="87917" y="1423491"/>
            <a:ext cx="4345331" cy="337430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Hypothesis 3</a:t>
            </a:r>
            <a:endParaRPr dirty="0">
              <a:solidFill>
                <a:schemeClr val="accent1"/>
              </a:solidFill>
            </a:endParaRPr>
          </a:p>
        </p:txBody>
      </p:sp>
      <p:pic>
        <p:nvPicPr>
          <p:cNvPr id="217" name="Google Shape;217;p21"/>
          <p:cNvPicPr preferRelativeResize="0"/>
          <p:nvPr/>
        </p:nvPicPr>
        <p:blipFill>
          <a:blip r:embed="rId3">
            <a:alphaModFix/>
          </a:blip>
          <a:stretch>
            <a:fillRect/>
          </a:stretch>
        </p:blipFill>
        <p:spPr>
          <a:xfrm>
            <a:off x="-78850" y="1680274"/>
            <a:ext cx="4572001" cy="2991250"/>
          </a:xfrm>
          <a:prstGeom prst="rect">
            <a:avLst/>
          </a:prstGeom>
          <a:noFill/>
          <a:ln>
            <a:noFill/>
          </a:ln>
        </p:spPr>
      </p:pic>
      <p:pic>
        <p:nvPicPr>
          <p:cNvPr id="218" name="Google Shape;218;p21"/>
          <p:cNvPicPr preferRelativeResize="0"/>
          <p:nvPr/>
        </p:nvPicPr>
        <p:blipFill>
          <a:blip r:embed="rId4">
            <a:alphaModFix/>
          </a:blip>
          <a:stretch>
            <a:fillRect/>
          </a:stretch>
        </p:blipFill>
        <p:spPr>
          <a:xfrm>
            <a:off x="4493150" y="1680275"/>
            <a:ext cx="4496324" cy="2865775"/>
          </a:xfrm>
          <a:prstGeom prst="rect">
            <a:avLst/>
          </a:prstGeom>
          <a:noFill/>
          <a:ln>
            <a:noFill/>
          </a:ln>
        </p:spPr>
      </p:pic>
      <p:sp>
        <p:nvSpPr>
          <p:cNvPr id="219" name="Google Shape;219;p21"/>
          <p:cNvSpPr txBox="1"/>
          <p:nvPr/>
        </p:nvSpPr>
        <p:spPr>
          <a:xfrm>
            <a:off x="2577800" y="494545"/>
            <a:ext cx="5666400" cy="523180"/>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400" dirty="0"/>
              <a:t>Comparing with private healthcare services, public ones has significantly longer wait times and less consultation minutes.</a:t>
            </a:r>
            <a:endParaRPr sz="1400" dirty="0"/>
          </a:p>
        </p:txBody>
      </p:sp>
      <p:pic>
        <p:nvPicPr>
          <p:cNvPr id="220" name="Google Shape;220;p21"/>
          <p:cNvPicPr preferRelativeResize="0"/>
          <p:nvPr/>
        </p:nvPicPr>
        <p:blipFill>
          <a:blip r:embed="rId5">
            <a:alphaModFix/>
          </a:blip>
          <a:stretch>
            <a:fillRect/>
          </a:stretch>
        </p:blipFill>
        <p:spPr>
          <a:xfrm>
            <a:off x="2110900" y="1072500"/>
            <a:ext cx="4619154" cy="607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0"/>
          <p:cNvSpPr txBox="1">
            <a:spLocks noGrp="1"/>
          </p:cNvSpPr>
          <p:nvPr>
            <p:ph type="title"/>
          </p:nvPr>
        </p:nvSpPr>
        <p:spPr>
          <a:xfrm>
            <a:off x="311700" y="349100"/>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Hypothesis 4 </a:t>
            </a:r>
            <a:endParaRPr dirty="0">
              <a:solidFill>
                <a:schemeClr val="accent1"/>
              </a:solidFill>
            </a:endParaRPr>
          </a:p>
        </p:txBody>
      </p:sp>
      <p:sp>
        <p:nvSpPr>
          <p:cNvPr id="195" name="Google Shape;195;p20"/>
          <p:cNvSpPr txBox="1"/>
          <p:nvPr/>
        </p:nvSpPr>
        <p:spPr>
          <a:xfrm>
            <a:off x="2508900" y="407721"/>
            <a:ext cx="6482700" cy="523200"/>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400" dirty="0"/>
              <a:t>Moral hazard leads to inefficient care, not better care - </a:t>
            </a:r>
            <a:r>
              <a:rPr lang="es-MX" sz="1400" i="1" dirty="0"/>
              <a:t>prescribing more medication/tests does not necessarily improve patient’s willingness to return</a:t>
            </a:r>
            <a:endParaRPr sz="1400" i="1" dirty="0"/>
          </a:p>
        </p:txBody>
      </p:sp>
      <p:sp>
        <p:nvSpPr>
          <p:cNvPr id="196" name="Google Shape;196;p20"/>
          <p:cNvSpPr txBox="1"/>
          <p:nvPr/>
        </p:nvSpPr>
        <p:spPr>
          <a:xfrm>
            <a:off x="541425" y="1278875"/>
            <a:ext cx="3631200" cy="31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197" name="Google Shape;197;p20"/>
          <p:cNvSpPr txBox="1"/>
          <p:nvPr/>
        </p:nvSpPr>
        <p:spPr>
          <a:xfrm>
            <a:off x="159375" y="1177175"/>
            <a:ext cx="6482700" cy="338514"/>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600" dirty="0"/>
              <a:t>For each provider, we estimate: </a:t>
            </a:r>
            <a:endParaRPr sz="1600" i="1" dirty="0"/>
          </a:p>
        </p:txBody>
      </p:sp>
      <p:pic>
        <p:nvPicPr>
          <p:cNvPr id="198" name="Google Shape;198;p20"/>
          <p:cNvPicPr preferRelativeResize="0"/>
          <p:nvPr/>
        </p:nvPicPr>
        <p:blipFill>
          <a:blip r:embed="rId4">
            <a:alphaModFix/>
          </a:blip>
          <a:stretch>
            <a:fillRect/>
          </a:stretch>
        </p:blipFill>
        <p:spPr>
          <a:xfrm>
            <a:off x="4513924" y="1937125"/>
            <a:ext cx="4477676" cy="2766549"/>
          </a:xfrm>
          <a:prstGeom prst="rect">
            <a:avLst/>
          </a:prstGeom>
          <a:noFill/>
          <a:ln>
            <a:noFill/>
          </a:ln>
        </p:spPr>
      </p:pic>
      <p:pic>
        <p:nvPicPr>
          <p:cNvPr id="199" name="Google Shape;199;p20"/>
          <p:cNvPicPr preferRelativeResize="0"/>
          <p:nvPr/>
        </p:nvPicPr>
        <p:blipFill>
          <a:blip r:embed="rId5">
            <a:alphaModFix/>
          </a:blip>
          <a:stretch>
            <a:fillRect/>
          </a:stretch>
        </p:blipFill>
        <p:spPr>
          <a:xfrm>
            <a:off x="118188" y="1906523"/>
            <a:ext cx="4477676" cy="2766564"/>
          </a:xfrm>
          <a:prstGeom prst="rect">
            <a:avLst/>
          </a:prstGeom>
          <a:noFill/>
          <a:ln>
            <a:noFill/>
          </a:ln>
        </p:spPr>
      </p:pic>
      <p:pic>
        <p:nvPicPr>
          <p:cNvPr id="200" name="Google Shape;200;p20"/>
          <p:cNvPicPr preferRelativeResize="0"/>
          <p:nvPr/>
        </p:nvPicPr>
        <p:blipFill>
          <a:blip r:embed="rId6">
            <a:alphaModFix/>
          </a:blip>
          <a:stretch>
            <a:fillRect/>
          </a:stretch>
        </p:blipFill>
        <p:spPr>
          <a:xfrm>
            <a:off x="3033825" y="1173850"/>
            <a:ext cx="5166950" cy="69010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5a1eb37f40_0_17"/>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Hypothesis 4 Cont. </a:t>
            </a:r>
            <a:endParaRPr dirty="0">
              <a:solidFill>
                <a:schemeClr val="accent1"/>
              </a:solidFill>
            </a:endParaRPr>
          </a:p>
        </p:txBody>
      </p:sp>
      <p:sp>
        <p:nvSpPr>
          <p:cNvPr id="206" name="Google Shape;206;g35a1eb37f40_0_17"/>
          <p:cNvSpPr txBox="1"/>
          <p:nvPr/>
        </p:nvSpPr>
        <p:spPr>
          <a:xfrm>
            <a:off x="3092748" y="555589"/>
            <a:ext cx="6051252" cy="307736"/>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400" i="1" dirty="0"/>
              <a:t>… But prescribing more medication/tests incur extra medical spending for patients!</a:t>
            </a:r>
            <a:endParaRPr sz="1400" i="1" dirty="0"/>
          </a:p>
        </p:txBody>
      </p:sp>
      <p:sp>
        <p:nvSpPr>
          <p:cNvPr id="207" name="Google Shape;207;g35a1eb37f40_0_17"/>
          <p:cNvSpPr txBox="1"/>
          <p:nvPr/>
        </p:nvSpPr>
        <p:spPr>
          <a:xfrm>
            <a:off x="541425" y="1278875"/>
            <a:ext cx="3631200" cy="31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208" name="Google Shape;208;g35a1eb37f40_0_17"/>
          <p:cNvSpPr txBox="1"/>
          <p:nvPr/>
        </p:nvSpPr>
        <p:spPr>
          <a:xfrm>
            <a:off x="159375" y="1177175"/>
            <a:ext cx="6482700" cy="338514"/>
          </a:xfrm>
          <a:prstGeom prst="rect">
            <a:avLst/>
          </a:prstGeom>
          <a:noFill/>
          <a:ln>
            <a:noFill/>
          </a:ln>
        </p:spPr>
        <p:txBody>
          <a:bodyPr spcFirstLastPara="1" wrap="square" lIns="91425" tIns="45700" rIns="91425" bIns="45700" anchor="t" anchorCtr="0">
            <a:spAutoFit/>
          </a:bodyPr>
          <a:lstStyle/>
          <a:p>
            <a:pPr marL="131400" marR="0" lvl="0" indent="0" algn="l" rtl="0">
              <a:lnSpc>
                <a:spcPct val="100000"/>
              </a:lnSpc>
              <a:spcBef>
                <a:spcPts val="0"/>
              </a:spcBef>
              <a:spcAft>
                <a:spcPts val="0"/>
              </a:spcAft>
              <a:buNone/>
            </a:pPr>
            <a:r>
              <a:rPr lang="es-MX" sz="1600" dirty="0"/>
              <a:t>For each provider, we estimate: </a:t>
            </a:r>
            <a:endParaRPr sz="1600" i="1" dirty="0"/>
          </a:p>
        </p:txBody>
      </p:sp>
      <p:pic>
        <p:nvPicPr>
          <p:cNvPr id="209" name="Google Shape;209;g35a1eb37f40_0_17"/>
          <p:cNvPicPr preferRelativeResize="0"/>
          <p:nvPr/>
        </p:nvPicPr>
        <p:blipFill>
          <a:blip r:embed="rId4">
            <a:alphaModFix/>
          </a:blip>
          <a:stretch>
            <a:fillRect/>
          </a:stretch>
        </p:blipFill>
        <p:spPr>
          <a:xfrm>
            <a:off x="3165888" y="1177175"/>
            <a:ext cx="5358213" cy="729350"/>
          </a:xfrm>
          <a:prstGeom prst="rect">
            <a:avLst/>
          </a:prstGeom>
          <a:noFill/>
          <a:ln>
            <a:noFill/>
          </a:ln>
        </p:spPr>
      </p:pic>
      <p:pic>
        <p:nvPicPr>
          <p:cNvPr id="210" name="Google Shape;210;g35a1eb37f40_0_17"/>
          <p:cNvPicPr preferRelativeResize="0"/>
          <p:nvPr/>
        </p:nvPicPr>
        <p:blipFill>
          <a:blip r:embed="rId5">
            <a:alphaModFix/>
          </a:blip>
          <a:stretch>
            <a:fillRect/>
          </a:stretch>
        </p:blipFill>
        <p:spPr>
          <a:xfrm>
            <a:off x="53966" y="2065975"/>
            <a:ext cx="4461209" cy="2756400"/>
          </a:xfrm>
          <a:prstGeom prst="rect">
            <a:avLst/>
          </a:prstGeom>
          <a:noFill/>
          <a:ln>
            <a:noFill/>
          </a:ln>
        </p:spPr>
      </p:pic>
      <p:pic>
        <p:nvPicPr>
          <p:cNvPr id="211" name="Google Shape;211;g35a1eb37f40_0_17"/>
          <p:cNvPicPr preferRelativeResize="0"/>
          <p:nvPr/>
        </p:nvPicPr>
        <p:blipFill>
          <a:blip r:embed="rId6">
            <a:alphaModFix/>
          </a:blip>
          <a:stretch>
            <a:fillRect/>
          </a:stretch>
        </p:blipFill>
        <p:spPr>
          <a:xfrm>
            <a:off x="4477825" y="2085263"/>
            <a:ext cx="4398775" cy="2717826"/>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2"/>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Doctor Shortage</a:t>
            </a:r>
            <a:endParaRPr dirty="0">
              <a:solidFill>
                <a:schemeClr val="accent1"/>
              </a:solidFill>
            </a:endParaRPr>
          </a:p>
        </p:txBody>
      </p:sp>
      <p:sp>
        <p:nvSpPr>
          <p:cNvPr id="226" name="Google Shape;226;p22"/>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lvl="0" indent="-228600">
              <a:buNone/>
            </a:pPr>
            <a:r>
              <a:rPr lang="en-US" dirty="0">
                <a:hlinkClick r:id="rId3"/>
              </a:rPr>
              <a:t>https://www.thelancet.com/journals/lanam/article/PIIS2667-193X(24)00293-X/fulltext</a:t>
            </a:r>
            <a:r>
              <a:rPr lang="en-US" dirty="0"/>
              <a:t> </a:t>
            </a:r>
          </a:p>
          <a:p>
            <a:pPr lvl="0" indent="-228600">
              <a:buNone/>
            </a:pPr>
            <a:endParaRPr lang="en-US" dirty="0"/>
          </a:p>
          <a:p>
            <a:pPr lvl="0" indent="-228600">
              <a:buNone/>
            </a:pPr>
            <a:r>
              <a:rPr lang="en-US" dirty="0"/>
              <a:t>Not moral hazard but also explains longer wait times and shorter consultation time. </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4">
          <a:extLst>
            <a:ext uri="{FF2B5EF4-FFF2-40B4-BE49-F238E27FC236}">
              <a16:creationId xmlns:a16="http://schemas.microsoft.com/office/drawing/2014/main" id="{14F39957-9A22-B0FA-89DE-5A4DDEF6BA2D}"/>
            </a:ext>
          </a:extLst>
        </p:cNvPr>
        <p:cNvGrpSpPr/>
        <p:nvPr/>
      </p:nvGrpSpPr>
      <p:grpSpPr>
        <a:xfrm>
          <a:off x="0" y="0"/>
          <a:ext cx="0" cy="0"/>
          <a:chOff x="0" y="0"/>
          <a:chExt cx="0" cy="0"/>
        </a:xfrm>
      </p:grpSpPr>
      <p:sp>
        <p:nvSpPr>
          <p:cNvPr id="225" name="Google Shape;225;p22">
            <a:extLst>
              <a:ext uri="{FF2B5EF4-FFF2-40B4-BE49-F238E27FC236}">
                <a16:creationId xmlns:a16="http://schemas.microsoft.com/office/drawing/2014/main" id="{FB155BEC-B07D-D3F0-CEC4-75240B12E487}"/>
              </a:ext>
            </a:extLst>
          </p:cNvPr>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Problem Summary</a:t>
            </a:r>
            <a:endParaRPr dirty="0">
              <a:solidFill>
                <a:schemeClr val="accent1"/>
              </a:solidFill>
            </a:endParaRPr>
          </a:p>
        </p:txBody>
      </p:sp>
      <p:sp>
        <p:nvSpPr>
          <p:cNvPr id="226" name="Google Shape;226;p22">
            <a:extLst>
              <a:ext uri="{FF2B5EF4-FFF2-40B4-BE49-F238E27FC236}">
                <a16:creationId xmlns:a16="http://schemas.microsoft.com/office/drawing/2014/main" id="{76792A69-EC35-D3BA-A655-33D80159EA39}"/>
              </a:ext>
            </a:extLst>
          </p:cNvPr>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285750" lvl="0" indent="-285750">
              <a:lnSpc>
                <a:spcPct val="100000"/>
              </a:lnSpc>
              <a:buSzPts val="1100"/>
              <a:buFont typeface="Wingdings" pitchFamily="2" charset="2"/>
              <a:buChar char="§"/>
            </a:pPr>
            <a:r>
              <a:rPr lang="es-MX" sz="1400" dirty="0">
                <a:solidFill>
                  <a:schemeClr val="tx1"/>
                </a:solidFill>
              </a:rPr>
              <a:t>We found evidence that there is moral hazard in doctors within the Mexican healthcare system:</a:t>
            </a:r>
          </a:p>
          <a:p>
            <a:pPr marL="285750" indent="-285750">
              <a:lnSpc>
                <a:spcPct val="100000"/>
              </a:lnSpc>
              <a:buSzPts val="1100"/>
              <a:buFont typeface="Wingdings" pitchFamily="2" charset="2"/>
              <a:buChar char="§"/>
            </a:pPr>
            <a:r>
              <a:rPr lang="es-MX" sz="1400" dirty="0">
                <a:solidFill>
                  <a:schemeClr val="tx1"/>
                </a:solidFill>
              </a:rPr>
              <a:t>Propensity of prescribing more tests, not medication + tests (instead of medication) incurs higher out-of-pockets fees</a:t>
            </a:r>
          </a:p>
          <a:p>
            <a:pPr marL="285750" indent="-285750">
              <a:lnSpc>
                <a:spcPct val="100000"/>
              </a:lnSpc>
              <a:buSzPts val="1100"/>
              <a:buFont typeface="Wingdings" pitchFamily="2" charset="2"/>
              <a:buChar char="§"/>
            </a:pPr>
            <a:r>
              <a:rPr lang="es-MX" sz="1400" dirty="0">
                <a:solidFill>
                  <a:schemeClr val="tx1"/>
                </a:solidFill>
              </a:rPr>
              <a:t>What leads to this moral hazard? </a:t>
            </a:r>
            <a:r>
              <a:rPr lang="es-MX" sz="1400" dirty="0">
                <a:solidFill>
                  <a:schemeClr val="tx1"/>
                </a:solidFill>
                <a:highlight>
                  <a:srgbClr val="FFFF00"/>
                </a:highlight>
              </a:rPr>
              <a:t>(our story is that we observe inefficiency, which is caused by moral hazard; but what causes moral hazard?)</a:t>
            </a:r>
          </a:p>
          <a:p>
            <a:pPr marL="742950" lvl="1" indent="-285750">
              <a:lnSpc>
                <a:spcPct val="100000"/>
              </a:lnSpc>
              <a:buSzPts val="1100"/>
              <a:buFont typeface="Wingdings" pitchFamily="2" charset="2"/>
              <a:buChar char="§"/>
            </a:pPr>
            <a:r>
              <a:rPr lang="es-MX" sz="1400" dirty="0">
                <a:solidFill>
                  <a:schemeClr val="tx1"/>
                </a:solidFill>
              </a:rPr>
              <a:t>Probably not pay structure (extra patient payment does not translate to salary bonus)</a:t>
            </a:r>
          </a:p>
          <a:p>
            <a:pPr marL="742950" lvl="1" indent="-285750">
              <a:lnSpc>
                <a:spcPct val="100000"/>
              </a:lnSpc>
              <a:buSzPts val="1100"/>
              <a:buFont typeface="Wingdings" pitchFamily="2" charset="2"/>
              <a:buChar char="§"/>
            </a:pPr>
            <a:r>
              <a:rPr lang="es-MX" sz="1400" dirty="0">
                <a:solidFill>
                  <a:schemeClr val="tx1"/>
                </a:solidFill>
              </a:rPr>
              <a:t>Possibly, fear of malpractice</a:t>
            </a:r>
          </a:p>
          <a:p>
            <a:pPr marL="742950" lvl="1" indent="-285750">
              <a:lnSpc>
                <a:spcPct val="100000"/>
              </a:lnSpc>
              <a:buSzPts val="1100"/>
              <a:buFont typeface="Wingdings" pitchFamily="2" charset="2"/>
              <a:buChar char="§"/>
            </a:pPr>
            <a:r>
              <a:rPr lang="es-MX" sz="1400" dirty="0">
                <a:solidFill>
                  <a:schemeClr val="tx1"/>
                </a:solidFill>
              </a:rPr>
              <a:t>Lack of treatment guideline causing doctors to prescribe tests blindly</a:t>
            </a:r>
          </a:p>
          <a:p>
            <a:pPr marL="742950" lvl="1" indent="-285750">
              <a:lnSpc>
                <a:spcPct val="100000"/>
              </a:lnSpc>
              <a:buSzPts val="1100"/>
              <a:buFont typeface="Wingdings" pitchFamily="2" charset="2"/>
              <a:buChar char="§"/>
            </a:pPr>
            <a:r>
              <a:rPr lang="es-MX" sz="1400" dirty="0">
                <a:solidFill>
                  <a:schemeClr val="tx1"/>
                </a:solidFill>
              </a:rPr>
              <a:t>Gray income: patient bribes making doctors more pressured to act like they put a lot of effort (prescribing more tests) when they actually do not</a:t>
            </a:r>
          </a:p>
        </p:txBody>
      </p:sp>
    </p:spTree>
    <p:extLst>
      <p:ext uri="{BB962C8B-B14F-4D97-AF65-F5344CB8AC3E}">
        <p14:creationId xmlns:p14="http://schemas.microsoft.com/office/powerpoint/2010/main" val="2722235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3"/>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Solution</a:t>
            </a:r>
            <a:endParaRPr dirty="0">
              <a:solidFill>
                <a:schemeClr val="accent1"/>
              </a:solidFill>
            </a:endParaRPr>
          </a:p>
        </p:txBody>
      </p:sp>
      <p:sp>
        <p:nvSpPr>
          <p:cNvPr id="232" name="Google Shape;232;p23"/>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190500" lvl="0" indent="-190500" algn="l" rtl="0">
              <a:lnSpc>
                <a:spcPct val="137500"/>
              </a:lnSpc>
              <a:spcBef>
                <a:spcPts val="800"/>
              </a:spcBef>
              <a:spcAft>
                <a:spcPts val="0"/>
              </a:spcAft>
              <a:buClr>
                <a:srgbClr val="EEF0FF"/>
              </a:buClr>
              <a:buSzPts val="770"/>
              <a:buNone/>
            </a:pPr>
            <a:r>
              <a:rPr lang="es-MX" sz="1055" dirty="0">
                <a:solidFill>
                  <a:schemeClr val="dk1"/>
                </a:solidFill>
                <a:highlight>
                  <a:schemeClr val="lt1"/>
                </a:highlight>
              </a:rPr>
              <a:t>Addressing Moral Hazard:</a:t>
            </a:r>
            <a:br>
              <a:rPr lang="es-MX" sz="1055" dirty="0">
                <a:solidFill>
                  <a:schemeClr val="dk1"/>
                </a:solidFill>
                <a:highlight>
                  <a:schemeClr val="lt1"/>
                </a:highlight>
              </a:rPr>
            </a:br>
            <a:r>
              <a:rPr lang="es-MX" sz="1055" dirty="0">
                <a:solidFill>
                  <a:schemeClr val="dk1"/>
                </a:solidFill>
                <a:highlight>
                  <a:schemeClr val="lt1"/>
                </a:highlight>
              </a:rPr>
              <a:t>Mechanisms to reduce moral hazard include:</a:t>
            </a:r>
            <a:endParaRPr sz="1055" dirty="0">
              <a:solidFill>
                <a:schemeClr val="dk1"/>
              </a:solidFill>
              <a:highlight>
                <a:schemeClr val="lt1"/>
              </a:highlight>
            </a:endParaRPr>
          </a:p>
          <a:p>
            <a:pPr marL="647700" marR="63500" lvl="1" indent="-277495" algn="l" rtl="0">
              <a:lnSpc>
                <a:spcPct val="137500"/>
              </a:lnSpc>
              <a:spcBef>
                <a:spcPts val="0"/>
              </a:spcBef>
              <a:spcAft>
                <a:spcPts val="0"/>
              </a:spcAft>
              <a:buClr>
                <a:srgbClr val="C3C6D6"/>
              </a:buClr>
              <a:buSzPts val="770"/>
              <a:buChar char="●"/>
            </a:pPr>
            <a:r>
              <a:rPr lang="es-MX" sz="1055" dirty="0">
                <a:solidFill>
                  <a:schemeClr val="dk1"/>
                </a:solidFill>
                <a:highlight>
                  <a:schemeClr val="lt1"/>
                </a:highlight>
              </a:rPr>
              <a:t>Patient cost-sharing: Requiring patients to pay a portion of the cost of their healthcare can encourage more responsible utilization of services. </a:t>
            </a:r>
            <a:endParaRPr sz="1055" dirty="0">
              <a:solidFill>
                <a:schemeClr val="dk1"/>
              </a:solidFill>
              <a:highlight>
                <a:schemeClr val="lt1"/>
              </a:highlight>
            </a:endParaRPr>
          </a:p>
          <a:p>
            <a:pPr marL="647700" marR="63500" lvl="1" indent="-277495" algn="l" rtl="0">
              <a:lnSpc>
                <a:spcPct val="137500"/>
              </a:lnSpc>
              <a:spcBef>
                <a:spcPts val="0"/>
              </a:spcBef>
              <a:spcAft>
                <a:spcPts val="0"/>
              </a:spcAft>
              <a:buClr>
                <a:srgbClr val="C3C6D6"/>
              </a:buClr>
              <a:buSzPts val="770"/>
              <a:buChar char="●"/>
            </a:pPr>
            <a:r>
              <a:rPr lang="es-MX" sz="1055" dirty="0">
                <a:solidFill>
                  <a:schemeClr val="dk1"/>
                </a:solidFill>
                <a:highlight>
                  <a:schemeClr val="lt1"/>
                </a:highlight>
              </a:rPr>
              <a:t>Transparent pricing and information: Providing clear and accurate information about the costs and benefits of different treatment options can empower patients to make informed decisions. </a:t>
            </a:r>
            <a:endParaRPr sz="1055" dirty="0">
              <a:solidFill>
                <a:schemeClr val="dk1"/>
              </a:solidFill>
              <a:highlight>
                <a:schemeClr val="lt1"/>
              </a:highlight>
            </a:endParaRPr>
          </a:p>
          <a:p>
            <a:pPr marL="647700" marR="63500" lvl="1" indent="-277495" algn="l" rtl="0">
              <a:lnSpc>
                <a:spcPct val="137500"/>
              </a:lnSpc>
              <a:spcBef>
                <a:spcPts val="0"/>
              </a:spcBef>
              <a:spcAft>
                <a:spcPts val="0"/>
              </a:spcAft>
              <a:buClr>
                <a:srgbClr val="C3C6D6"/>
              </a:buClr>
              <a:buSzPts val="770"/>
              <a:buChar char="●"/>
            </a:pPr>
            <a:r>
              <a:rPr lang="es-MX" sz="1055" dirty="0">
                <a:solidFill>
                  <a:schemeClr val="dk1"/>
                </a:solidFill>
                <a:highlight>
                  <a:schemeClr val="lt1"/>
                </a:highlight>
              </a:rPr>
              <a:t>Stronger ethical oversight: Enforcing ethical guidelines and providing clear standards for medical practice can help to prevent inappropriate or unnecessary care. </a:t>
            </a:r>
            <a:endParaRPr sz="1055" dirty="0">
              <a:solidFill>
                <a:schemeClr val="dk1"/>
              </a:solidFill>
              <a:highlight>
                <a:schemeClr val="lt1"/>
              </a:highlight>
            </a:endParaRPr>
          </a:p>
          <a:p>
            <a:pPr marL="647700" lvl="1" indent="-277495" algn="l" rtl="0">
              <a:lnSpc>
                <a:spcPct val="137500"/>
              </a:lnSpc>
              <a:spcBef>
                <a:spcPts val="0"/>
              </a:spcBef>
              <a:spcAft>
                <a:spcPts val="0"/>
              </a:spcAft>
              <a:buClr>
                <a:srgbClr val="C3C6D6"/>
              </a:buClr>
              <a:buSzPts val="770"/>
              <a:buChar char="●"/>
            </a:pPr>
            <a:r>
              <a:rPr lang="es-MX" sz="1055" dirty="0">
                <a:solidFill>
                  <a:schemeClr val="dk1"/>
                </a:solidFill>
                <a:highlight>
                  <a:schemeClr val="lt1"/>
                </a:highlight>
              </a:rPr>
              <a:t>Incentivizing preventative care: Rewarding doctors for promoting and delivering preventative care can help to address long-term health problems and reduce the demand for treatment later on. </a:t>
            </a:r>
            <a:endParaRPr sz="1055" dirty="0">
              <a:solidFill>
                <a:schemeClr val="dk1"/>
              </a:solidFill>
              <a:highlight>
                <a:schemeClr val="lt1"/>
              </a:highlight>
            </a:endParaRPr>
          </a:p>
          <a:p>
            <a:pPr marL="0" lvl="0" indent="0" algn="l" rtl="0">
              <a:lnSpc>
                <a:spcPct val="137500"/>
              </a:lnSpc>
              <a:spcBef>
                <a:spcPts val="3000"/>
              </a:spcBef>
              <a:spcAft>
                <a:spcPts val="0"/>
              </a:spcAft>
              <a:buSzPts val="1800"/>
              <a:buNone/>
            </a:pPr>
            <a:r>
              <a:rPr lang="es-MX" sz="912" dirty="0">
                <a:solidFill>
                  <a:schemeClr val="dk1"/>
                </a:solidFill>
                <a:highlight>
                  <a:srgbClr val="FFFFFF"/>
                </a:highlight>
                <a:latin typeface="Roboto"/>
                <a:ea typeface="Roboto"/>
                <a:cs typeface="Roboto"/>
                <a:sym typeface="Roboto"/>
              </a:rPr>
              <a:t>One way to reduce moral hazard is to make patients pay a part of the cost of health care, either as a fixed amount (co-payment) or as a percentage of the total bill (deductible). This can discourage unnecessary or excessive use of health services and encourage preventive care. However, co-payments and deductibles can also create barriers to access for low-income or vulnerable groups, and may reduce the quality of care if patients delay or avoid seeking treatment.</a:t>
            </a:r>
            <a:endParaRPr sz="1055" dirty="0">
              <a:solidFill>
                <a:schemeClr val="dk1"/>
              </a:solidFill>
              <a:highlight>
                <a:schemeClr val="lt1"/>
              </a:highlight>
            </a:endParaRPr>
          </a:p>
          <a:p>
            <a:pPr marL="0" lvl="0" indent="0" algn="l" rtl="0">
              <a:lnSpc>
                <a:spcPct val="115000"/>
              </a:lnSpc>
              <a:spcBef>
                <a:spcPts val="3000"/>
              </a:spcBef>
              <a:spcAft>
                <a:spcPts val="1200"/>
              </a:spcAft>
              <a:buSzPts val="523"/>
              <a:buNone/>
            </a:pPr>
            <a:endParaRPr sz="85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4"/>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a:t>Appendix</a:t>
            </a:r>
            <a:endParaRPr/>
          </a:p>
        </p:txBody>
      </p:sp>
      <p:sp>
        <p:nvSpPr>
          <p:cNvPr id="238" name="Google Shape;238;p24"/>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s-MX"/>
              <a:t>Quality index variables</a:t>
            </a:r>
            <a:endParaRPr/>
          </a:p>
          <a:p>
            <a:pPr marL="457200" lvl="0" indent="-342900" algn="l" rtl="0">
              <a:lnSpc>
                <a:spcPct val="115000"/>
              </a:lnSpc>
              <a:spcBef>
                <a:spcPts val="0"/>
              </a:spcBef>
              <a:spcAft>
                <a:spcPts val="0"/>
              </a:spcAft>
              <a:buSzPts val="1800"/>
              <a:buChar char="●"/>
            </a:pPr>
            <a:r>
              <a:rPr lang="es-MX"/>
              <a:t>Additional figures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5"/>
          <p:cNvSpPr txBox="1">
            <a:spLocks noGrp="1"/>
          </p:cNvSpPr>
          <p:nvPr>
            <p:ph type="title"/>
          </p:nvPr>
        </p:nvSpPr>
        <p:spPr>
          <a:xfrm>
            <a:off x="311700" y="338119"/>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dirty="0">
                <a:solidFill>
                  <a:schemeClr val="accent1"/>
                </a:solidFill>
              </a:rPr>
              <a:t>Variables for the Provider Quality Index	</a:t>
            </a:r>
            <a:endParaRPr dirty="0">
              <a:solidFill>
                <a:schemeClr val="accent1"/>
              </a:solidFill>
            </a:endParaRPr>
          </a:p>
        </p:txBody>
      </p:sp>
      <p:graphicFrame>
        <p:nvGraphicFramePr>
          <p:cNvPr id="244" name="Google Shape;244;p25"/>
          <p:cNvGraphicFramePr/>
          <p:nvPr>
            <p:extLst>
              <p:ext uri="{D42A27DB-BD31-4B8C-83A1-F6EECF244321}">
                <p14:modId xmlns:p14="http://schemas.microsoft.com/office/powerpoint/2010/main" val="2891664413"/>
              </p:ext>
            </p:extLst>
          </p:nvPr>
        </p:nvGraphicFramePr>
        <p:xfrm>
          <a:off x="418343" y="750593"/>
          <a:ext cx="7932225" cy="4304080"/>
        </p:xfrm>
        <a:graphic>
          <a:graphicData uri="http://schemas.openxmlformats.org/drawingml/2006/table">
            <a:tbl>
              <a:tblPr firstRow="1" bandRow="1">
                <a:tableStyleId>{72833802-FEF1-4C79-8D5D-14CF1EAF98D9}</a:tableStyleId>
              </a:tblPr>
              <a:tblGrid>
                <a:gridCol w="907500">
                  <a:extLst>
                    <a:ext uri="{9D8B030D-6E8A-4147-A177-3AD203B41FA5}">
                      <a16:colId xmlns:a16="http://schemas.microsoft.com/office/drawing/2014/main" val="20000"/>
                    </a:ext>
                  </a:extLst>
                </a:gridCol>
                <a:gridCol w="4380650">
                  <a:extLst>
                    <a:ext uri="{9D8B030D-6E8A-4147-A177-3AD203B41FA5}">
                      <a16:colId xmlns:a16="http://schemas.microsoft.com/office/drawing/2014/main" val="20001"/>
                    </a:ext>
                  </a:extLst>
                </a:gridCol>
                <a:gridCol w="2644075">
                  <a:extLst>
                    <a:ext uri="{9D8B030D-6E8A-4147-A177-3AD203B41FA5}">
                      <a16:colId xmlns:a16="http://schemas.microsoft.com/office/drawing/2014/main" val="20002"/>
                    </a:ext>
                  </a:extLst>
                </a:gridCol>
              </a:tblGrid>
              <a:tr h="205775">
                <a:tc>
                  <a:txBody>
                    <a:bodyPr/>
                    <a:lstStyle/>
                    <a:p>
                      <a:pPr marL="0" marR="0" lvl="0" indent="0" algn="l" rtl="0">
                        <a:lnSpc>
                          <a:spcPct val="100000"/>
                        </a:lnSpc>
                        <a:spcBef>
                          <a:spcPts val="0"/>
                        </a:spcBef>
                        <a:spcAft>
                          <a:spcPts val="0"/>
                        </a:spcAft>
                        <a:buNone/>
                      </a:pPr>
                      <a:r>
                        <a:rPr lang="es-MX" sz="800" b="1" u="none" strike="noStrike" cap="none" dirty="0"/>
                        <a:t>Variable</a:t>
                      </a:r>
                      <a:endParaRPr sz="800" u="none" strike="noStrike" cap="none"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b="1" u="none" strike="noStrike" cap="none"/>
                        <a:t>Question</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b="1" u="none" strike="noStrike" cap="none"/>
                        <a:t>Response Scale</a:t>
                      </a:r>
                      <a:endParaRPr sz="800" u="none" strike="noStrike" cap="none">
                        <a:latin typeface="+mn-lt"/>
                      </a:endParaRPr>
                    </a:p>
                  </a:txBody>
                  <a:tcPr marL="91450" marR="91450" marT="45725" marB="45725" anchor="ctr"/>
                </a:tc>
                <a:extLst>
                  <a:ext uri="{0D108BD9-81ED-4DB2-BD59-A6C34878D82A}">
                    <a16:rowId xmlns:a16="http://schemas.microsoft.com/office/drawing/2014/main" val="10000"/>
                  </a:ext>
                </a:extLst>
              </a:tr>
              <a:tr h="205775">
                <a:tc>
                  <a:txBody>
                    <a:bodyPr/>
                    <a:lstStyle/>
                    <a:p>
                      <a:pPr marL="0" marR="0" lvl="0" indent="0" algn="l" rtl="0">
                        <a:lnSpc>
                          <a:spcPct val="100000"/>
                        </a:lnSpc>
                        <a:spcBef>
                          <a:spcPts val="0"/>
                        </a:spcBef>
                        <a:spcAft>
                          <a:spcPts val="0"/>
                        </a:spcAft>
                        <a:buNone/>
                      </a:pPr>
                      <a:r>
                        <a:rPr lang="es-MX" sz="800" b="1" u="none" strike="noStrike" cap="none" dirty="0"/>
                        <a:t>P3_5</a:t>
                      </a:r>
                      <a:endParaRPr sz="800" u="none" strike="noStrike" cap="none"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The service provided was…</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Very good)</a:t>
                      </a:r>
                      <a:endParaRPr sz="800">
                        <a:latin typeface="+mn-lt"/>
                      </a:endParaRPr>
                    </a:p>
                  </a:txBody>
                  <a:tcPr marL="91450" marR="91450" marT="45725" marB="45725" anchor="ctr"/>
                </a:tc>
                <a:extLst>
                  <a:ext uri="{0D108BD9-81ED-4DB2-BD59-A6C34878D82A}">
                    <a16:rowId xmlns:a16="http://schemas.microsoft.com/office/drawing/2014/main" val="10001"/>
                  </a:ext>
                </a:extLst>
              </a:tr>
              <a:tr h="205775">
                <a:tc>
                  <a:txBody>
                    <a:bodyPr/>
                    <a:lstStyle/>
                    <a:p>
                      <a:pPr marL="0" marR="0" lvl="0" indent="0" algn="l" rtl="0">
                        <a:lnSpc>
                          <a:spcPct val="100000"/>
                        </a:lnSpc>
                        <a:spcBef>
                          <a:spcPts val="0"/>
                        </a:spcBef>
                        <a:spcAft>
                          <a:spcPts val="0"/>
                        </a:spcAft>
                        <a:buNone/>
                      </a:pPr>
                      <a:r>
                        <a:rPr lang="es-MX" sz="800" b="1" u="none" strike="noStrike" cap="none"/>
                        <a:t>P4_6</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The time you waited before receiving attention was…</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Very long)</a:t>
                      </a:r>
                      <a:endParaRPr sz="800">
                        <a:latin typeface="+mn-lt"/>
                      </a:endParaRPr>
                    </a:p>
                  </a:txBody>
                  <a:tcPr marL="91450" marR="91450" marT="45725" marB="45725" anchor="ctr"/>
                </a:tc>
                <a:extLst>
                  <a:ext uri="{0D108BD9-81ED-4DB2-BD59-A6C34878D82A}">
                    <a16:rowId xmlns:a16="http://schemas.microsoft.com/office/drawing/2014/main" val="10002"/>
                  </a:ext>
                </a:extLst>
              </a:tr>
              <a:tr h="205775">
                <a:tc>
                  <a:txBody>
                    <a:bodyPr/>
                    <a:lstStyle/>
                    <a:p>
                      <a:pPr marL="0" marR="0" lvl="0" indent="0" algn="l" rtl="0">
                        <a:lnSpc>
                          <a:spcPct val="100000"/>
                        </a:lnSpc>
                        <a:spcBef>
                          <a:spcPts val="0"/>
                        </a:spcBef>
                        <a:spcAft>
                          <a:spcPts val="0"/>
                        </a:spcAft>
                        <a:buNone/>
                      </a:pPr>
                      <a:r>
                        <a:rPr lang="es-MX" sz="800" b="1" u="none" strike="noStrike" cap="none"/>
                        <a:t>P7_2</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If you had a choice, would you go back to that same place for care?</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Yes/No</a:t>
                      </a:r>
                      <a:endParaRPr sz="800">
                        <a:latin typeface="+mn-lt"/>
                      </a:endParaRPr>
                    </a:p>
                  </a:txBody>
                  <a:tcPr marL="91450" marR="91450" marT="45725" marB="45725" anchor="ctr"/>
                </a:tc>
                <a:extLst>
                  <a:ext uri="{0D108BD9-81ED-4DB2-BD59-A6C34878D82A}">
                    <a16:rowId xmlns:a16="http://schemas.microsoft.com/office/drawing/2014/main" val="10003"/>
                  </a:ext>
                </a:extLst>
              </a:tr>
              <a:tr h="205775">
                <a:tc>
                  <a:txBody>
                    <a:bodyPr/>
                    <a:lstStyle/>
                    <a:p>
                      <a:pPr marL="0" marR="0" lvl="0" indent="0" algn="l" rtl="0">
                        <a:lnSpc>
                          <a:spcPct val="100000"/>
                        </a:lnSpc>
                        <a:spcBef>
                          <a:spcPts val="0"/>
                        </a:spcBef>
                        <a:spcAft>
                          <a:spcPts val="0"/>
                        </a:spcAft>
                        <a:buNone/>
                      </a:pPr>
                      <a:r>
                        <a:rPr lang="es-MX" sz="800" b="1" u="none" strike="noStrike" cap="none"/>
                        <a:t>P7_7</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are the conditions of the place where you received healthcare?</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Very bad conditions)</a:t>
                      </a:r>
                      <a:endParaRPr sz="800">
                        <a:latin typeface="+mn-lt"/>
                      </a:endParaRPr>
                    </a:p>
                  </a:txBody>
                  <a:tcPr marL="91450" marR="91450" marT="45725" marB="45725" anchor="ctr"/>
                </a:tc>
                <a:extLst>
                  <a:ext uri="{0D108BD9-81ED-4DB2-BD59-A6C34878D82A}">
                    <a16:rowId xmlns:a16="http://schemas.microsoft.com/office/drawing/2014/main" val="10004"/>
                  </a:ext>
                </a:extLst>
              </a:tr>
              <a:tr h="329225">
                <a:tc>
                  <a:txBody>
                    <a:bodyPr/>
                    <a:lstStyle/>
                    <a:p>
                      <a:pPr marL="0" marR="0" lvl="0" indent="0" algn="l" rtl="0">
                        <a:lnSpc>
                          <a:spcPct val="100000"/>
                        </a:lnSpc>
                        <a:spcBef>
                          <a:spcPts val="0"/>
                        </a:spcBef>
                        <a:spcAft>
                          <a:spcPts val="0"/>
                        </a:spcAft>
                        <a:buNone/>
                      </a:pPr>
                      <a:r>
                        <a:rPr lang="es-MX" sz="800" b="1" u="none" strike="noStrike" cap="none"/>
                        <a:t>P8_2</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quickly were you able to make an appointment when you were sick or needed care?</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Very easy)</a:t>
                      </a:r>
                      <a:endParaRPr sz="800">
                        <a:latin typeface="+mn-lt"/>
                      </a:endParaRPr>
                    </a:p>
                  </a:txBody>
                  <a:tcPr marL="91450" marR="91450" marT="45725" marB="45725" anchor="ctr"/>
                </a:tc>
                <a:extLst>
                  <a:ext uri="{0D108BD9-81ED-4DB2-BD59-A6C34878D82A}">
                    <a16:rowId xmlns:a16="http://schemas.microsoft.com/office/drawing/2014/main" val="10005"/>
                  </a:ext>
                </a:extLst>
              </a:tr>
              <a:tr h="329225">
                <a:tc>
                  <a:txBody>
                    <a:bodyPr/>
                    <a:lstStyle/>
                    <a:p>
                      <a:pPr marL="0" marR="0" lvl="0" indent="0" algn="l" rtl="0">
                        <a:lnSpc>
                          <a:spcPct val="100000"/>
                        </a:lnSpc>
                        <a:spcBef>
                          <a:spcPts val="0"/>
                        </a:spcBef>
                        <a:spcAft>
                          <a:spcPts val="0"/>
                        </a:spcAft>
                        <a:buNone/>
                      </a:pPr>
                      <a:r>
                        <a:rPr lang="es-MX" sz="800" b="1" u="none" strike="noStrike" cap="none"/>
                        <a:t>P8_3</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easy is it to receive medical care at night/weekends/holidays without going to the hospital?</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Very easy)</a:t>
                      </a:r>
                      <a:endParaRPr sz="800">
                        <a:latin typeface="+mn-lt"/>
                      </a:endParaRPr>
                    </a:p>
                  </a:txBody>
                  <a:tcPr marL="91450" marR="91450" marT="45725" marB="45725" anchor="ctr"/>
                </a:tc>
                <a:extLst>
                  <a:ext uri="{0D108BD9-81ED-4DB2-BD59-A6C34878D82A}">
                    <a16:rowId xmlns:a16="http://schemas.microsoft.com/office/drawing/2014/main" val="10006"/>
                  </a:ext>
                </a:extLst>
              </a:tr>
              <a:tr h="329225">
                <a:tc>
                  <a:txBody>
                    <a:bodyPr/>
                    <a:lstStyle/>
                    <a:p>
                      <a:pPr marL="0" marR="0" lvl="0" indent="0" algn="l" rtl="0">
                        <a:lnSpc>
                          <a:spcPct val="100000"/>
                        </a:lnSpc>
                        <a:spcBef>
                          <a:spcPts val="0"/>
                        </a:spcBef>
                        <a:spcAft>
                          <a:spcPts val="0"/>
                        </a:spcAft>
                        <a:buNone/>
                      </a:pPr>
                      <a:r>
                        <a:rPr lang="es-MX" sz="800" b="1" u="none" strike="noStrike" cap="none"/>
                        <a:t>P8_4</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easy is it to phone your doctor during office hours and get the answer you need?</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Very easy)</a:t>
                      </a:r>
                      <a:endParaRPr sz="800">
                        <a:latin typeface="+mn-lt"/>
                      </a:endParaRPr>
                    </a:p>
                  </a:txBody>
                  <a:tcPr marL="91450" marR="91450" marT="45725" marB="45725" anchor="ctr"/>
                </a:tc>
                <a:extLst>
                  <a:ext uri="{0D108BD9-81ED-4DB2-BD59-A6C34878D82A}">
                    <a16:rowId xmlns:a16="http://schemas.microsoft.com/office/drawing/2014/main" val="10007"/>
                  </a:ext>
                </a:extLst>
              </a:tr>
              <a:tr h="212225">
                <a:tc>
                  <a:txBody>
                    <a:bodyPr/>
                    <a:lstStyle/>
                    <a:p>
                      <a:pPr marL="0" marR="0" lvl="0" indent="0" algn="l" rtl="0">
                        <a:lnSpc>
                          <a:spcPct val="100000"/>
                        </a:lnSpc>
                        <a:spcBef>
                          <a:spcPts val="0"/>
                        </a:spcBef>
                        <a:spcAft>
                          <a:spcPts val="0"/>
                        </a:spcAft>
                        <a:buNone/>
                      </a:pPr>
                      <a:r>
                        <a:rPr lang="es-MX" sz="800" b="1" u="none" strike="noStrike" cap="none"/>
                        <a:t>P8_5_1</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often does your doctor/staff know important info about your medical history?</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Always)</a:t>
                      </a:r>
                      <a:endParaRPr sz="800">
                        <a:latin typeface="+mn-lt"/>
                      </a:endParaRPr>
                    </a:p>
                  </a:txBody>
                  <a:tcPr marL="91450" marR="91450" marT="45725" marB="45725" anchor="ctr"/>
                </a:tc>
                <a:extLst>
                  <a:ext uri="{0D108BD9-81ED-4DB2-BD59-A6C34878D82A}">
                    <a16:rowId xmlns:a16="http://schemas.microsoft.com/office/drawing/2014/main" val="10008"/>
                  </a:ext>
                </a:extLst>
              </a:tr>
              <a:tr h="212225">
                <a:tc>
                  <a:txBody>
                    <a:bodyPr/>
                    <a:lstStyle/>
                    <a:p>
                      <a:pPr marL="0" marR="0" lvl="0" indent="0" algn="l" rtl="0">
                        <a:lnSpc>
                          <a:spcPct val="100000"/>
                        </a:lnSpc>
                        <a:spcBef>
                          <a:spcPts val="0"/>
                        </a:spcBef>
                        <a:spcAft>
                          <a:spcPts val="0"/>
                        </a:spcAft>
                        <a:buNone/>
                      </a:pPr>
                      <a:r>
                        <a:rPr lang="es-MX" sz="800" b="1" u="none" strike="noStrike" cap="none"/>
                        <a:t>P8_5_2</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often does your doctor/staff offer you the opportunity to ask questions?</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Likert 1–5 (1 = Always)</a:t>
                      </a:r>
                      <a:endParaRPr sz="800">
                        <a:latin typeface="+mn-lt"/>
                      </a:endParaRPr>
                    </a:p>
                  </a:txBody>
                  <a:tcPr marL="91450" marR="91450" marT="45725" marB="45725" anchor="ctr"/>
                </a:tc>
                <a:extLst>
                  <a:ext uri="{0D108BD9-81ED-4DB2-BD59-A6C34878D82A}">
                    <a16:rowId xmlns:a16="http://schemas.microsoft.com/office/drawing/2014/main" val="10009"/>
                  </a:ext>
                </a:extLst>
              </a:tr>
              <a:tr h="205775">
                <a:tc>
                  <a:txBody>
                    <a:bodyPr/>
                    <a:lstStyle/>
                    <a:p>
                      <a:pPr marL="0" marR="0" lvl="0" indent="0" algn="l" rtl="0">
                        <a:lnSpc>
                          <a:spcPct val="100000"/>
                        </a:lnSpc>
                        <a:spcBef>
                          <a:spcPts val="0"/>
                        </a:spcBef>
                        <a:spcAft>
                          <a:spcPts val="0"/>
                        </a:spcAft>
                        <a:buNone/>
                      </a:pPr>
                      <a:r>
                        <a:rPr lang="es-MX" sz="800" b="1" u="none" strike="noStrike" cap="none"/>
                        <a:t>P8_5_3</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How often does your doctor/staff spend enough time with you?</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Likert 1–5 (1 = Always)</a:t>
                      </a:r>
                      <a:endParaRPr sz="800" dirty="0">
                        <a:latin typeface="+mn-lt"/>
                      </a:endParaRPr>
                    </a:p>
                  </a:txBody>
                  <a:tcPr marL="91450" marR="91450" marT="45725" marB="45725" anchor="ctr"/>
                </a:tc>
                <a:extLst>
                  <a:ext uri="{0D108BD9-81ED-4DB2-BD59-A6C34878D82A}">
                    <a16:rowId xmlns:a16="http://schemas.microsoft.com/office/drawing/2014/main" val="10010"/>
                  </a:ext>
                </a:extLst>
              </a:tr>
              <a:tr h="205775">
                <a:tc>
                  <a:txBody>
                    <a:bodyPr/>
                    <a:lstStyle/>
                    <a:p>
                      <a:pPr marL="0" marR="0" lvl="0" indent="0" algn="l" rtl="0">
                        <a:lnSpc>
                          <a:spcPct val="100000"/>
                        </a:lnSpc>
                        <a:spcBef>
                          <a:spcPts val="0"/>
                        </a:spcBef>
                        <a:spcAft>
                          <a:spcPts val="0"/>
                        </a:spcAft>
                        <a:buNone/>
                      </a:pPr>
                      <a:r>
                        <a:rPr lang="es-MX" sz="800" b="1" u="none" strike="noStrike" cap="none"/>
                        <a:t>P8_5_4</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How often does your doctor/staff involve you in decisions about your care?</a:t>
                      </a:r>
                      <a:endParaRPr sz="800" dirty="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Likert 1–5 (1 = Always)</a:t>
                      </a:r>
                      <a:endParaRPr sz="800" dirty="0">
                        <a:latin typeface="+mn-lt"/>
                      </a:endParaRPr>
                    </a:p>
                  </a:txBody>
                  <a:tcPr marL="91450" marR="91450" marT="45725" marB="45725" anchor="ctr"/>
                </a:tc>
                <a:extLst>
                  <a:ext uri="{0D108BD9-81ED-4DB2-BD59-A6C34878D82A}">
                    <a16:rowId xmlns:a16="http://schemas.microsoft.com/office/drawing/2014/main" val="10011"/>
                  </a:ext>
                </a:extLst>
              </a:tr>
              <a:tr h="212225">
                <a:tc>
                  <a:txBody>
                    <a:bodyPr/>
                    <a:lstStyle/>
                    <a:p>
                      <a:pPr marL="0" marR="0" lvl="0" indent="0" algn="l" rtl="0">
                        <a:lnSpc>
                          <a:spcPct val="100000"/>
                        </a:lnSpc>
                        <a:spcBef>
                          <a:spcPts val="0"/>
                        </a:spcBef>
                        <a:spcAft>
                          <a:spcPts val="0"/>
                        </a:spcAft>
                        <a:buNone/>
                      </a:pPr>
                      <a:r>
                        <a:rPr lang="es-MX" sz="800" b="1" u="none" strike="noStrike" cap="none"/>
                        <a:t>P8_5_5</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How often does your doctor/staff explain things in an easy-to-understand way?</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Likert 1–5 (1 = Always)</a:t>
                      </a:r>
                      <a:endParaRPr sz="800" dirty="0">
                        <a:latin typeface="+mn-lt"/>
                      </a:endParaRPr>
                    </a:p>
                  </a:txBody>
                  <a:tcPr marL="91450" marR="91450" marT="45725" marB="45725" anchor="ctr"/>
                </a:tc>
                <a:extLst>
                  <a:ext uri="{0D108BD9-81ED-4DB2-BD59-A6C34878D82A}">
                    <a16:rowId xmlns:a16="http://schemas.microsoft.com/office/drawing/2014/main" val="10012"/>
                  </a:ext>
                </a:extLst>
              </a:tr>
              <a:tr h="205775">
                <a:tc>
                  <a:txBody>
                    <a:bodyPr/>
                    <a:lstStyle/>
                    <a:p>
                      <a:pPr marL="0" marR="0" lvl="0" indent="0" algn="l" rtl="0">
                        <a:lnSpc>
                          <a:spcPct val="100000"/>
                        </a:lnSpc>
                        <a:spcBef>
                          <a:spcPts val="0"/>
                        </a:spcBef>
                        <a:spcAft>
                          <a:spcPts val="0"/>
                        </a:spcAft>
                        <a:buNone/>
                      </a:pPr>
                      <a:r>
                        <a:rPr lang="es-MX" sz="800" b="1" u="none" strike="noStrike" cap="none"/>
                        <a:t>P8_5_6</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How often does your doctor/staff help coordinate specialist care?</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Likert 1–5 (1 = Always)</a:t>
                      </a:r>
                      <a:endParaRPr sz="800" dirty="0">
                        <a:latin typeface="+mn-lt"/>
                      </a:endParaRPr>
                    </a:p>
                  </a:txBody>
                  <a:tcPr marL="91450" marR="91450" marT="45725" marB="45725" anchor="ctr"/>
                </a:tc>
                <a:extLst>
                  <a:ext uri="{0D108BD9-81ED-4DB2-BD59-A6C34878D82A}">
                    <a16:rowId xmlns:a16="http://schemas.microsoft.com/office/drawing/2014/main" val="10013"/>
                  </a:ext>
                </a:extLst>
              </a:tr>
              <a:tr h="212225">
                <a:tc>
                  <a:txBody>
                    <a:bodyPr/>
                    <a:lstStyle/>
                    <a:p>
                      <a:pPr marL="0" marR="0" lvl="0" indent="0" algn="l" rtl="0">
                        <a:lnSpc>
                          <a:spcPct val="100000"/>
                        </a:lnSpc>
                        <a:spcBef>
                          <a:spcPts val="0"/>
                        </a:spcBef>
                        <a:spcAft>
                          <a:spcPts val="0"/>
                        </a:spcAft>
                        <a:buNone/>
                      </a:pPr>
                      <a:r>
                        <a:rPr lang="es-MX" sz="800" b="1" u="none" strike="noStrike" cap="none"/>
                        <a:t>P8_6</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Overall, how would you rate the medical care you received in the past 12 months?</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Likert 1–5 (1 = Excellent)</a:t>
                      </a:r>
                      <a:endParaRPr sz="800" dirty="0">
                        <a:latin typeface="+mn-lt"/>
                      </a:endParaRPr>
                    </a:p>
                  </a:txBody>
                  <a:tcPr marL="91450" marR="91450" marT="45725" marB="45725" anchor="ctr"/>
                </a:tc>
                <a:extLst>
                  <a:ext uri="{0D108BD9-81ED-4DB2-BD59-A6C34878D82A}">
                    <a16:rowId xmlns:a16="http://schemas.microsoft.com/office/drawing/2014/main" val="10014"/>
                  </a:ext>
                </a:extLst>
              </a:tr>
              <a:tr h="205775">
                <a:tc>
                  <a:txBody>
                    <a:bodyPr/>
                    <a:lstStyle/>
                    <a:p>
                      <a:pPr marL="0" marR="0" lvl="0" indent="0" algn="l" rtl="0">
                        <a:lnSpc>
                          <a:spcPct val="100000"/>
                        </a:lnSpc>
                        <a:spcBef>
                          <a:spcPts val="0"/>
                        </a:spcBef>
                        <a:spcAft>
                          <a:spcPts val="0"/>
                        </a:spcAft>
                        <a:buNone/>
                      </a:pPr>
                      <a:r>
                        <a:rPr lang="es-MX" sz="800" b="1" u="none" strike="noStrike" cap="none"/>
                        <a:t>P8_8_1</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In the past 12 months, did your doctor/staff review the medicines you take?</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Yes/No</a:t>
                      </a:r>
                      <a:endParaRPr sz="800" dirty="0">
                        <a:latin typeface="+mn-lt"/>
                      </a:endParaRPr>
                    </a:p>
                  </a:txBody>
                  <a:tcPr marL="91450" marR="91450" marT="45725" marB="45725" anchor="ctr"/>
                </a:tc>
                <a:extLst>
                  <a:ext uri="{0D108BD9-81ED-4DB2-BD59-A6C34878D82A}">
                    <a16:rowId xmlns:a16="http://schemas.microsoft.com/office/drawing/2014/main" val="10015"/>
                  </a:ext>
                </a:extLst>
              </a:tr>
              <a:tr h="329225">
                <a:tc>
                  <a:txBody>
                    <a:bodyPr/>
                    <a:lstStyle/>
                    <a:p>
                      <a:pPr marL="0" marR="0" lvl="0" indent="0" algn="l" rtl="0">
                        <a:lnSpc>
                          <a:spcPct val="100000"/>
                        </a:lnSpc>
                        <a:spcBef>
                          <a:spcPts val="0"/>
                        </a:spcBef>
                        <a:spcAft>
                          <a:spcPts val="0"/>
                        </a:spcAft>
                        <a:buNone/>
                      </a:pPr>
                      <a:r>
                        <a:rPr lang="es-MX" sz="800" b="1" u="none" strike="noStrike" cap="none"/>
                        <a:t>P8_8_2</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In the past 12 months, did your doctor/staff explain potential medication side effects?</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Yes/No</a:t>
                      </a:r>
                      <a:endParaRPr sz="800" dirty="0">
                        <a:latin typeface="+mn-lt"/>
                      </a:endParaRPr>
                    </a:p>
                  </a:txBody>
                  <a:tcPr marL="91450" marR="91450" marT="45725" marB="45725" anchor="ctr"/>
                </a:tc>
                <a:extLst>
                  <a:ext uri="{0D108BD9-81ED-4DB2-BD59-A6C34878D82A}">
                    <a16:rowId xmlns:a16="http://schemas.microsoft.com/office/drawing/2014/main" val="10016"/>
                  </a:ext>
                </a:extLst>
              </a:tr>
              <a:tr h="212225">
                <a:tc>
                  <a:txBody>
                    <a:bodyPr/>
                    <a:lstStyle/>
                    <a:p>
                      <a:pPr marL="0" marR="0" lvl="0" indent="0" algn="l" rtl="0">
                        <a:lnSpc>
                          <a:spcPct val="100000"/>
                        </a:lnSpc>
                        <a:spcBef>
                          <a:spcPts val="0"/>
                        </a:spcBef>
                        <a:spcAft>
                          <a:spcPts val="0"/>
                        </a:spcAft>
                        <a:buNone/>
                      </a:pPr>
                      <a:r>
                        <a:rPr lang="es-MX" sz="800" b="1" u="none" strike="noStrike" cap="none"/>
                        <a:t>P8_8_3</a:t>
                      </a:r>
                      <a:endParaRPr sz="800" u="none" strike="noStrike" cap="none">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a:t>In the past 12 months, did your doctor/staff provide a written list of prescriptions?</a:t>
                      </a:r>
                      <a:endParaRPr sz="800">
                        <a:latin typeface="+mn-lt"/>
                      </a:endParaRPr>
                    </a:p>
                  </a:txBody>
                  <a:tcPr marL="91450" marR="91450" marT="45725" marB="45725" anchor="ctr"/>
                </a:tc>
                <a:tc>
                  <a:txBody>
                    <a:bodyPr/>
                    <a:lstStyle/>
                    <a:p>
                      <a:pPr marL="0" marR="0" lvl="0" indent="0" algn="l" rtl="0">
                        <a:lnSpc>
                          <a:spcPct val="100000"/>
                        </a:lnSpc>
                        <a:spcBef>
                          <a:spcPts val="0"/>
                        </a:spcBef>
                        <a:spcAft>
                          <a:spcPts val="0"/>
                        </a:spcAft>
                        <a:buNone/>
                      </a:pPr>
                      <a:r>
                        <a:rPr lang="es-MX" sz="800" u="none" strike="noStrike" cap="none" dirty="0"/>
                        <a:t>Yes/No</a:t>
                      </a:r>
                      <a:endParaRPr sz="800" dirty="0">
                        <a:latin typeface="+mn-lt"/>
                      </a:endParaRPr>
                    </a:p>
                  </a:txBody>
                  <a:tcPr marL="91450" marR="91450" marT="45725" marB="45725" anchor="ctr"/>
                </a:tc>
                <a:extLst>
                  <a:ext uri="{0D108BD9-81ED-4DB2-BD59-A6C34878D82A}">
                    <a16:rowId xmlns:a16="http://schemas.microsoft.com/office/drawing/2014/main" val="1001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6"/>
          <p:cNvSpPr txBox="1">
            <a:spLocks noGrp="1"/>
          </p:cNvSpPr>
          <p:nvPr>
            <p:ph type="title"/>
          </p:nvPr>
        </p:nvSpPr>
        <p:spPr>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11111"/>
              <a:buNone/>
            </a:pPr>
            <a:r>
              <a:rPr lang="es-MX"/>
              <a:t>Variables for effort index</a:t>
            </a:r>
            <a:endParaRPr/>
          </a:p>
        </p:txBody>
      </p:sp>
      <p:sp>
        <p:nvSpPr>
          <p:cNvPr id="250" name="Google Shape;250;p26"/>
          <p:cNvSpPr txBox="1">
            <a:spLocks noGrp="1"/>
          </p:cNvSpPr>
          <p:nvPr>
            <p:ph type="body" idx="1"/>
          </p:nvPr>
        </p:nvSpPr>
        <p:spPr>
          <a:prstGeom prst="rect">
            <a:avLst/>
          </a:prstGeom>
          <a:noFill/>
          <a:ln>
            <a:noFill/>
          </a:ln>
        </p:spPr>
        <p:txBody>
          <a:bodyPr spcFirstLastPara="1" wrap="square" lIns="91425" tIns="91425" rIns="91425" bIns="91425" anchor="t" anchorCtr="0">
            <a:normAutofit/>
          </a:bodyPr>
          <a:lstStyle/>
          <a:p>
            <a:pPr marL="457200" lvl="0" indent="-228600" algn="l" rtl="0">
              <a:lnSpc>
                <a:spcPct val="115000"/>
              </a:lnSpc>
              <a:spcBef>
                <a:spcPts val="0"/>
              </a:spcBef>
              <a:spcAft>
                <a:spcPts val="0"/>
              </a:spcAft>
              <a:buSzPts val="1800"/>
              <a:buNone/>
            </a:pPr>
            <a:endParaRPr/>
          </a:p>
        </p:txBody>
      </p:sp>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B865B93-8A78-D54D-9C7C-B746A458AD92}">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Dividend</Template>
  <TotalTime>34</TotalTime>
  <Words>3416</Words>
  <Application>Microsoft Macintosh PowerPoint</Application>
  <PresentationFormat>On-screen Show (16:9)</PresentationFormat>
  <Paragraphs>260</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Wingdings 2</vt:lpstr>
      <vt:lpstr>Arial</vt:lpstr>
      <vt:lpstr>Times New Roman</vt:lpstr>
      <vt:lpstr>Roboto</vt:lpstr>
      <vt:lpstr>Wingdings</vt:lpstr>
      <vt:lpstr>Gill Sans MT</vt:lpstr>
      <vt:lpstr>Dividend</vt:lpstr>
      <vt:lpstr>Moral Hazard in the Mexican Healthcare System</vt:lpstr>
      <vt:lpstr>Database</vt:lpstr>
      <vt:lpstr>Handling data for Mexico </vt:lpstr>
      <vt:lpstr>PowerPoint Presentation</vt:lpstr>
      <vt:lpstr>How is the Mexican Healthcare System divided?</vt:lpstr>
      <vt:lpstr>Is this different in other countries?</vt:lpstr>
      <vt:lpstr>How many people go to each provider? How are resources distributed?</vt:lpstr>
      <vt:lpstr>How are people divided across healthcare providers?</vt:lpstr>
      <vt:lpstr>How are public vs private doctors paid usually?</vt:lpstr>
      <vt:lpstr>Measuring the problem: Quality measures</vt:lpstr>
      <vt:lpstr>Measuring the problem: Quality measures</vt:lpstr>
      <vt:lpstr>The problem: Healthcare quality differs across public providers</vt:lpstr>
      <vt:lpstr>Research question</vt:lpstr>
      <vt:lpstr>Market failure: Moral Hazard explanation (put this text in notes and change for images)</vt:lpstr>
      <vt:lpstr>Hypotheses to prove market failure </vt:lpstr>
      <vt:lpstr>Before starting: Do they have different health conditions across providers? (CHECK)</vt:lpstr>
      <vt:lpstr>Hypothesis 1</vt:lpstr>
      <vt:lpstr>Hypothesis 1</vt:lpstr>
      <vt:lpstr>Hypothesis 2</vt:lpstr>
      <vt:lpstr>Hypothesis 3</vt:lpstr>
      <vt:lpstr>Hypothesis 4 </vt:lpstr>
      <vt:lpstr>Hypothesis 4 Cont. </vt:lpstr>
      <vt:lpstr>Doctor Shortage</vt:lpstr>
      <vt:lpstr>Problem Summary</vt:lpstr>
      <vt:lpstr>Solution</vt:lpstr>
      <vt:lpstr>Appendix</vt:lpstr>
      <vt:lpstr>Variables for the Provider Quality Index </vt:lpstr>
      <vt:lpstr>Variables for effort index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Zixuan Zhou</cp:lastModifiedBy>
  <cp:revision>4</cp:revision>
  <dcterms:modified xsi:type="dcterms:W3CDTF">2025-05-19T06:02:43Z</dcterms:modified>
</cp:coreProperties>
</file>